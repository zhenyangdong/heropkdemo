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2" r:id="rId1"/>
  </p:sldMasterIdLst>
  <p:notesMasterIdLst>
    <p:notesMasterId r:id="rId12"/>
  </p:notesMasterIdLst>
  <p:sldIdLst>
    <p:sldId id="271" r:id="rId2"/>
    <p:sldId id="315" r:id="rId3"/>
    <p:sldId id="336" r:id="rId4"/>
    <p:sldId id="337" r:id="rId5"/>
    <p:sldId id="338" r:id="rId6"/>
    <p:sldId id="342" r:id="rId7"/>
    <p:sldId id="340" r:id="rId8"/>
    <p:sldId id="341" r:id="rId9"/>
    <p:sldId id="339" r:id="rId10"/>
    <p:sldId id="343" r:id="rId11"/>
  </p:sldIdLst>
  <p:sldSz cx="12188825" cy="6858000"/>
  <p:notesSz cx="6985000" cy="92837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39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76E658-F341-08F6-5EF3-5D66C8A1B314}" v="2" dt="2020-04-16T08:33:03.1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3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56550" y="0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0050" y="696913"/>
            <a:ext cx="6184900" cy="3481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17904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9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478607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Sub Heading_Body">
  <p:cSld name="Custom Layout 1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/>
        </p:nvSpPr>
        <p:spPr>
          <a:xfrm>
            <a:off x="9966300" y="6532000"/>
            <a:ext cx="1048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Seagate Internal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533250" y="467150"/>
            <a:ext cx="11190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546175" y="945550"/>
            <a:ext cx="111777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" name="Google Shape;21;p3" descr="sgicon_transparen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23782" y="6481337"/>
            <a:ext cx="324300" cy="2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/>
        </p:nvSpPr>
        <p:spPr>
          <a:xfrm>
            <a:off x="11096676" y="6506275"/>
            <a:ext cx="44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11546137" y="6542001"/>
            <a:ext cx="0" cy="195300"/>
          </a:xfrm>
          <a:prstGeom prst="straightConnector1">
            <a:avLst/>
          </a:prstGeom>
          <a:noFill/>
          <a:ln w="12700" cap="flat" cmpd="sng">
            <a:solidFill>
              <a:srgbClr val="E6E6E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3"/>
          <p:cNvCxnSpPr/>
          <p:nvPr/>
        </p:nvCxnSpPr>
        <p:spPr>
          <a:xfrm>
            <a:off x="11096687" y="6542051"/>
            <a:ext cx="0" cy="195300"/>
          </a:xfrm>
          <a:prstGeom prst="straightConnector1">
            <a:avLst/>
          </a:prstGeom>
          <a:noFill/>
          <a:ln w="12700" cap="flat" cmpd="sng">
            <a:solidFill>
              <a:srgbClr val="E6E6E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3"/>
          <p:cNvSpPr txBox="1">
            <a:spLocks noGrp="1"/>
          </p:cNvSpPr>
          <p:nvPr>
            <p:ph type="body" idx="2"/>
          </p:nvPr>
        </p:nvSpPr>
        <p:spPr>
          <a:xfrm>
            <a:off x="546175" y="2016675"/>
            <a:ext cx="111906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Body_Only">
  <p:cSld name="Custom Layout 1_1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533250" y="1961475"/>
            <a:ext cx="11190600" cy="44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533250" y="467150"/>
            <a:ext cx="11190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29" name="Google Shape;29;p4" descr="sgicon_transparen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23782" y="6481337"/>
            <a:ext cx="324300" cy="2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/>
        </p:nvSpPr>
        <p:spPr>
          <a:xfrm>
            <a:off x="11096676" y="6506275"/>
            <a:ext cx="449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11546137" y="6542001"/>
            <a:ext cx="0" cy="195300"/>
          </a:xfrm>
          <a:prstGeom prst="straightConnector1">
            <a:avLst/>
          </a:prstGeom>
          <a:noFill/>
          <a:ln w="12700" cap="flat" cmpd="sng">
            <a:solidFill>
              <a:srgbClr val="E6E6E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" name="Google Shape;32;p4"/>
          <p:cNvCxnSpPr/>
          <p:nvPr/>
        </p:nvCxnSpPr>
        <p:spPr>
          <a:xfrm>
            <a:off x="11096687" y="6542051"/>
            <a:ext cx="0" cy="195300"/>
          </a:xfrm>
          <a:prstGeom prst="straightConnector1">
            <a:avLst/>
          </a:prstGeom>
          <a:noFill/>
          <a:ln w="12700" cap="flat" cmpd="sng">
            <a:solidFill>
              <a:srgbClr val="E6E6E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3;p4"/>
          <p:cNvSpPr txBox="1"/>
          <p:nvPr/>
        </p:nvSpPr>
        <p:spPr>
          <a:xfrm>
            <a:off x="9964725" y="6532000"/>
            <a:ext cx="1048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Seagate Internal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33250" y="467150"/>
            <a:ext cx="11190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55D373-32A1-D7C9-0B8F-17742CFE307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2900" y="6705600"/>
            <a:ext cx="8715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Seagate Internal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466271" y="2929500"/>
            <a:ext cx="2859946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sz="3600" dirty="0">
                <a:solidFill>
                  <a:schemeClr val="tx1"/>
                </a:solidFill>
              </a:rPr>
              <a:t>2026-03-04</a:t>
            </a:r>
            <a:endParaRPr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1810B-D071-E2BF-A82E-B105F4B7F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C9C083A3-5DDB-6684-7CDD-79D743FA38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250" y="467150"/>
            <a:ext cx="11190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altLang="zh-CN" sz="2800" dirty="0"/>
              <a:t>Iceberg Data Commit </a:t>
            </a:r>
          </a:p>
        </p:txBody>
      </p:sp>
      <p:sp>
        <p:nvSpPr>
          <p:cNvPr id="2" name="Google Shape;19;p3">
            <a:extLst>
              <a:ext uri="{FF2B5EF4-FFF2-40B4-BE49-F238E27FC236}">
                <a16:creationId xmlns:a16="http://schemas.microsoft.com/office/drawing/2014/main" id="{15486BC8-1B33-94E4-A918-8773C031A83C}"/>
              </a:ext>
            </a:extLst>
          </p:cNvPr>
          <p:cNvSpPr txBox="1">
            <a:spLocks/>
          </p:cNvSpPr>
          <p:nvPr/>
        </p:nvSpPr>
        <p:spPr>
          <a:xfrm>
            <a:off x="640885" y="1060704"/>
            <a:ext cx="11416858" cy="1054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测试一：提交到两个表，</a:t>
            </a:r>
            <a:r>
              <a:rPr lang="en-US" altLang="zh-CN" sz="2000" dirty="0">
                <a:solidFill>
                  <a:schemeClr val="tx1"/>
                </a:solidFill>
              </a:rPr>
              <a:t>drop</a:t>
            </a:r>
            <a:r>
              <a:rPr lang="zh-CN" altLang="en-US" sz="2000" dirty="0">
                <a:solidFill>
                  <a:schemeClr val="tx1"/>
                </a:solidFill>
              </a:rPr>
              <a:t>其中一个表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写入一个</a:t>
            </a:r>
            <a:r>
              <a:rPr lang="en-US" altLang="zh-CN" sz="2000" dirty="0" err="1">
                <a:solidFill>
                  <a:schemeClr val="tx1"/>
                </a:solidFill>
              </a:rPr>
              <a:t>attr_vals</a:t>
            </a:r>
            <a:r>
              <a:rPr lang="zh-CN" altLang="en-US" sz="2000" dirty="0">
                <a:solidFill>
                  <a:schemeClr val="tx1"/>
                </a:solidFill>
              </a:rPr>
              <a:t>表的文件，向两个</a:t>
            </a:r>
            <a:r>
              <a:rPr lang="en-US" altLang="zh-CN" sz="2000" dirty="0" err="1">
                <a:solidFill>
                  <a:schemeClr val="tx1"/>
                </a:solidFill>
              </a:rPr>
              <a:t>avenger.attr_vals</a:t>
            </a:r>
            <a:r>
              <a:rPr lang="en-US" altLang="zh-CN" sz="2000" dirty="0">
                <a:solidFill>
                  <a:schemeClr val="tx1"/>
                </a:solidFill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</a:rPr>
              <a:t>cimarron.attr_vals</a:t>
            </a:r>
            <a:r>
              <a:rPr lang="zh-CN" altLang="en-US" sz="2000" dirty="0">
                <a:solidFill>
                  <a:schemeClr val="tx1"/>
                </a:solidFill>
              </a:rPr>
              <a:t>同时</a:t>
            </a:r>
            <a:r>
              <a:rPr lang="en-US" altLang="zh-CN" sz="2000" dirty="0">
                <a:solidFill>
                  <a:schemeClr val="tx1"/>
                </a:solidFill>
              </a:rPr>
              <a:t>commit</a:t>
            </a:r>
            <a:r>
              <a:rPr lang="zh-CN" altLang="en-US" sz="2000" dirty="0">
                <a:solidFill>
                  <a:schemeClr val="tx1"/>
                </a:solidFill>
              </a:rPr>
              <a:t>这个文件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8EF226-5E74-49F7-3FFF-4ED961856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85" y="2389694"/>
            <a:ext cx="1138237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65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92B08-9DF9-CB56-1DD6-AE957E697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2A236AE4-D46F-BFD8-EB3E-F5A636EADF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250" y="467150"/>
            <a:ext cx="11190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altLang="zh-CN" dirty="0"/>
              <a:t>Iceberg Data Commit </a:t>
            </a:r>
            <a:endParaRPr lang="en-US" altLang="zh-CN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2317A4-1626-3C46-F185-55FBAF1D4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02" y="1478954"/>
            <a:ext cx="11439525" cy="2266950"/>
          </a:xfrm>
          <a:prstGeom prst="rect">
            <a:avLst/>
          </a:prstGeom>
        </p:spPr>
      </p:pic>
      <p:sp>
        <p:nvSpPr>
          <p:cNvPr id="8" name="Google Shape;19;p3">
            <a:extLst>
              <a:ext uri="{FF2B5EF4-FFF2-40B4-BE49-F238E27FC236}">
                <a16:creationId xmlns:a16="http://schemas.microsoft.com/office/drawing/2014/main" id="{E695FA3A-3C59-5039-2F00-FB972AC27057}"/>
              </a:ext>
            </a:extLst>
          </p:cNvPr>
          <p:cNvSpPr txBox="1">
            <a:spLocks/>
          </p:cNvSpPr>
          <p:nvPr/>
        </p:nvSpPr>
        <p:spPr>
          <a:xfrm>
            <a:off x="606402" y="960306"/>
            <a:ext cx="11416858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提交到</a:t>
            </a:r>
            <a:r>
              <a:rPr lang="en-US" altLang="zh-CN" sz="2000" dirty="0" err="1">
                <a:solidFill>
                  <a:schemeClr val="tx1"/>
                </a:solidFill>
              </a:rPr>
              <a:t>avenger.attr_vals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9" name="Google Shape;19;p3">
            <a:extLst>
              <a:ext uri="{FF2B5EF4-FFF2-40B4-BE49-F238E27FC236}">
                <a16:creationId xmlns:a16="http://schemas.microsoft.com/office/drawing/2014/main" id="{E8A87E6E-D8A2-4F88-C3B7-2DF5C6E6C2E2}"/>
              </a:ext>
            </a:extLst>
          </p:cNvPr>
          <p:cNvSpPr txBox="1">
            <a:spLocks/>
          </p:cNvSpPr>
          <p:nvPr/>
        </p:nvSpPr>
        <p:spPr>
          <a:xfrm>
            <a:off x="606402" y="3859140"/>
            <a:ext cx="11416858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提交到</a:t>
            </a:r>
            <a:r>
              <a:rPr lang="en-US" altLang="zh-CN" sz="2000" dirty="0" err="1">
                <a:solidFill>
                  <a:schemeClr val="tx1"/>
                </a:solidFill>
              </a:rPr>
              <a:t>cimarron.attr_vals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CDF041-6046-BE3D-C529-B07051188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50" y="4264621"/>
            <a:ext cx="978217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994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E39DD-37F5-0B18-C276-35B6910D5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E5B59519-318A-1FFF-0F21-C4A9E65499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250" y="467150"/>
            <a:ext cx="11190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altLang="zh-CN" dirty="0"/>
              <a:t>Iceberg Data Commit </a:t>
            </a:r>
            <a:endParaRPr lang="en-US" altLang="zh-CN" sz="2800" dirty="0"/>
          </a:p>
        </p:txBody>
      </p:sp>
      <p:sp>
        <p:nvSpPr>
          <p:cNvPr id="8" name="Google Shape;19;p3">
            <a:extLst>
              <a:ext uri="{FF2B5EF4-FFF2-40B4-BE49-F238E27FC236}">
                <a16:creationId xmlns:a16="http://schemas.microsoft.com/office/drawing/2014/main" id="{A281C426-06A8-35A9-D251-36EE30DDEE6D}"/>
              </a:ext>
            </a:extLst>
          </p:cNvPr>
          <p:cNvSpPr txBox="1">
            <a:spLocks/>
          </p:cNvSpPr>
          <p:nvPr/>
        </p:nvSpPr>
        <p:spPr>
          <a:xfrm>
            <a:off x="606402" y="960306"/>
            <a:ext cx="11416858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查询</a:t>
            </a:r>
            <a:r>
              <a:rPr lang="en-US" altLang="zh-CN" sz="2000" dirty="0" err="1">
                <a:solidFill>
                  <a:schemeClr val="tx1"/>
                </a:solidFill>
              </a:rPr>
              <a:t>avenger.attr_vals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9" name="Google Shape;19;p3">
            <a:extLst>
              <a:ext uri="{FF2B5EF4-FFF2-40B4-BE49-F238E27FC236}">
                <a16:creationId xmlns:a16="http://schemas.microsoft.com/office/drawing/2014/main" id="{754F7FE9-2FE9-08B0-7F4A-A71566AB1226}"/>
              </a:ext>
            </a:extLst>
          </p:cNvPr>
          <p:cNvSpPr txBox="1">
            <a:spLocks/>
          </p:cNvSpPr>
          <p:nvPr/>
        </p:nvSpPr>
        <p:spPr>
          <a:xfrm>
            <a:off x="670496" y="3283068"/>
            <a:ext cx="11416858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查询</a:t>
            </a:r>
            <a:r>
              <a:rPr lang="en-US" altLang="zh-CN" sz="2000" dirty="0" err="1">
                <a:solidFill>
                  <a:schemeClr val="tx1"/>
                </a:solidFill>
              </a:rPr>
              <a:t>cimarron.attr_vals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CF533-3B0B-C009-9357-9BF825A37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96" y="1459806"/>
            <a:ext cx="5562600" cy="1704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1CB566-165B-703F-19C3-9E09AD873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96" y="3988290"/>
            <a:ext cx="531495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1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4550F-FE70-E3C7-3C6D-2D3D28EFE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3E45612F-4580-0BDC-50BB-BACF20884D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250" y="467150"/>
            <a:ext cx="11190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altLang="zh-CN" dirty="0"/>
              <a:t>Iceberg Data Commit </a:t>
            </a:r>
            <a:endParaRPr lang="en-US" altLang="zh-CN" sz="2800" dirty="0"/>
          </a:p>
        </p:txBody>
      </p:sp>
      <p:sp>
        <p:nvSpPr>
          <p:cNvPr id="8" name="Google Shape;19;p3">
            <a:extLst>
              <a:ext uri="{FF2B5EF4-FFF2-40B4-BE49-F238E27FC236}">
                <a16:creationId xmlns:a16="http://schemas.microsoft.com/office/drawing/2014/main" id="{9D7FA3CB-4A4F-4E44-A20B-91535624034A}"/>
              </a:ext>
            </a:extLst>
          </p:cNvPr>
          <p:cNvSpPr txBox="1">
            <a:spLocks/>
          </p:cNvSpPr>
          <p:nvPr/>
        </p:nvSpPr>
        <p:spPr>
          <a:xfrm>
            <a:off x="606402" y="960306"/>
            <a:ext cx="11416858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两个表的生成的</a:t>
            </a:r>
            <a:r>
              <a:rPr lang="en-US" altLang="zh-CN" sz="2000" dirty="0">
                <a:solidFill>
                  <a:schemeClr val="tx1"/>
                </a:solidFill>
              </a:rPr>
              <a:t>manifest</a:t>
            </a:r>
            <a:r>
              <a:rPr lang="zh-CN" altLang="en-US" sz="2000" dirty="0">
                <a:solidFill>
                  <a:schemeClr val="tx1"/>
                </a:solidFill>
              </a:rPr>
              <a:t>同时指向这个文件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FDBFDE-49F2-5D04-3B89-3B42F017A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87" y="1459806"/>
            <a:ext cx="9323982" cy="23730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697890-6760-B9D3-7A9D-8A2AE08A9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87" y="4244737"/>
            <a:ext cx="9442854" cy="23069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351FA9-564B-FF04-6836-173BC2753633}"/>
              </a:ext>
            </a:extLst>
          </p:cNvPr>
          <p:cNvSpPr txBox="1"/>
          <p:nvPr/>
        </p:nvSpPr>
        <p:spPr>
          <a:xfrm>
            <a:off x="10388722" y="2144385"/>
            <a:ext cx="12767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</a:rPr>
              <a:t>avenger</a:t>
            </a:r>
          </a:p>
          <a:p>
            <a:r>
              <a:rPr lang="en-US" altLang="zh-CN" sz="2000" dirty="0" err="1">
                <a:solidFill>
                  <a:schemeClr val="tx1"/>
                </a:solidFill>
              </a:rPr>
              <a:t>attr_vals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431F1A-9778-AFBA-B8F9-6D9A3372EEE6}"/>
              </a:ext>
            </a:extLst>
          </p:cNvPr>
          <p:cNvSpPr txBox="1"/>
          <p:nvPr/>
        </p:nvSpPr>
        <p:spPr>
          <a:xfrm>
            <a:off x="10447066" y="4690308"/>
            <a:ext cx="12767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chemeClr val="tx1"/>
                </a:solidFill>
              </a:rPr>
              <a:t>cimarronattr_vals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47859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79324-D238-495D-18FE-F1B9BAF5D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DFAA8E7A-D9F0-904B-1422-F1B7534BD7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250" y="467150"/>
            <a:ext cx="11190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altLang="zh-CN" dirty="0"/>
              <a:t>Iceberg Data Commit </a:t>
            </a:r>
            <a:endParaRPr lang="en-US" altLang="zh-CN" sz="2800" dirty="0"/>
          </a:p>
        </p:txBody>
      </p:sp>
      <p:sp>
        <p:nvSpPr>
          <p:cNvPr id="8" name="Google Shape;19;p3">
            <a:extLst>
              <a:ext uri="{FF2B5EF4-FFF2-40B4-BE49-F238E27FC236}">
                <a16:creationId xmlns:a16="http://schemas.microsoft.com/office/drawing/2014/main" id="{4F9826D2-1425-C313-D0B6-09098320E35C}"/>
              </a:ext>
            </a:extLst>
          </p:cNvPr>
          <p:cNvSpPr txBox="1">
            <a:spLocks/>
          </p:cNvSpPr>
          <p:nvPr/>
        </p:nvSpPr>
        <p:spPr>
          <a:xfrm>
            <a:off x="606402" y="960306"/>
            <a:ext cx="11416858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CN" sz="2000" dirty="0">
                <a:solidFill>
                  <a:schemeClr val="tx1"/>
                </a:solidFill>
              </a:rPr>
              <a:t>Trino</a:t>
            </a:r>
            <a:r>
              <a:rPr lang="zh-CN" altLang="en-US" sz="2000" dirty="0">
                <a:solidFill>
                  <a:schemeClr val="tx1"/>
                </a:solidFill>
              </a:rPr>
              <a:t>删除表</a:t>
            </a:r>
            <a:r>
              <a:rPr lang="en-US" altLang="zh-CN" sz="2000" dirty="0" err="1">
                <a:solidFill>
                  <a:schemeClr val="tx1"/>
                </a:solidFill>
              </a:rPr>
              <a:t>avenger.attr_vals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9FA961-FCE4-19DE-FB61-DCD850D7E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47" y="1571962"/>
            <a:ext cx="4638675" cy="76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1FB0AB-E9EB-386A-689A-7DA3F7D27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547" y="2865218"/>
            <a:ext cx="6619875" cy="685800"/>
          </a:xfrm>
          <a:prstGeom prst="rect">
            <a:avLst/>
          </a:prstGeom>
        </p:spPr>
      </p:pic>
      <p:sp>
        <p:nvSpPr>
          <p:cNvPr id="9" name="Google Shape;19;p3">
            <a:extLst>
              <a:ext uri="{FF2B5EF4-FFF2-40B4-BE49-F238E27FC236}">
                <a16:creationId xmlns:a16="http://schemas.microsoft.com/office/drawing/2014/main" id="{6D700FFC-E110-A9A3-E40A-A84F1B1B16EE}"/>
              </a:ext>
            </a:extLst>
          </p:cNvPr>
          <p:cNvSpPr txBox="1">
            <a:spLocks/>
          </p:cNvSpPr>
          <p:nvPr/>
        </p:nvSpPr>
        <p:spPr>
          <a:xfrm>
            <a:off x="606402" y="2333962"/>
            <a:ext cx="11416858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CN" sz="2000" dirty="0">
                <a:solidFill>
                  <a:schemeClr val="tx1"/>
                </a:solidFill>
              </a:rPr>
              <a:t>Data</a:t>
            </a:r>
            <a:r>
              <a:rPr lang="zh-CN" altLang="en-US" sz="2000" dirty="0">
                <a:solidFill>
                  <a:schemeClr val="tx1"/>
                </a:solidFill>
              </a:rPr>
              <a:t>文件被删除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41C583-55FC-2243-73B0-0FAD2DA7B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100" y="1761558"/>
            <a:ext cx="4476750" cy="1943100"/>
          </a:xfrm>
          <a:prstGeom prst="rect">
            <a:avLst/>
          </a:prstGeom>
        </p:spPr>
      </p:pic>
      <p:sp>
        <p:nvSpPr>
          <p:cNvPr id="14" name="Google Shape;19;p3">
            <a:extLst>
              <a:ext uri="{FF2B5EF4-FFF2-40B4-BE49-F238E27FC236}">
                <a16:creationId xmlns:a16="http://schemas.microsoft.com/office/drawing/2014/main" id="{F4232DDD-8D6D-8958-D369-DC225345A315}"/>
              </a:ext>
            </a:extLst>
          </p:cNvPr>
          <p:cNvSpPr txBox="1">
            <a:spLocks/>
          </p:cNvSpPr>
          <p:nvPr/>
        </p:nvSpPr>
        <p:spPr>
          <a:xfrm>
            <a:off x="7247100" y="1286876"/>
            <a:ext cx="4082316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CN" sz="2000" dirty="0">
                <a:solidFill>
                  <a:schemeClr val="tx1"/>
                </a:solidFill>
              </a:rPr>
              <a:t>avenger </a:t>
            </a:r>
            <a:r>
              <a:rPr lang="en-US" altLang="zh-CN" sz="2000" dirty="0" err="1">
                <a:solidFill>
                  <a:schemeClr val="tx1"/>
                </a:solidFill>
              </a:rPr>
              <a:t>attr_vals</a:t>
            </a:r>
            <a:r>
              <a:rPr lang="zh-CN" altLang="en-US" sz="2000" dirty="0">
                <a:solidFill>
                  <a:schemeClr val="tx1"/>
                </a:solidFill>
              </a:rPr>
              <a:t>目录被删除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88F45AF-6AAE-C720-1DD5-9B59367D6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547" y="4779454"/>
            <a:ext cx="7905750" cy="1743075"/>
          </a:xfrm>
          <a:prstGeom prst="rect">
            <a:avLst/>
          </a:prstGeom>
        </p:spPr>
      </p:pic>
      <p:sp>
        <p:nvSpPr>
          <p:cNvPr id="17" name="Google Shape;19;p3">
            <a:extLst>
              <a:ext uri="{FF2B5EF4-FFF2-40B4-BE49-F238E27FC236}">
                <a16:creationId xmlns:a16="http://schemas.microsoft.com/office/drawing/2014/main" id="{3F2C9586-0A9C-EE44-C0F7-A2D2D7475AE3}"/>
              </a:ext>
            </a:extLst>
          </p:cNvPr>
          <p:cNvSpPr txBox="1">
            <a:spLocks/>
          </p:cNvSpPr>
          <p:nvPr/>
        </p:nvSpPr>
        <p:spPr>
          <a:xfrm>
            <a:off x="533250" y="4178154"/>
            <a:ext cx="11416858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CN" sz="2000" dirty="0">
                <a:solidFill>
                  <a:schemeClr val="tx1"/>
                </a:solidFill>
              </a:rPr>
              <a:t>Trino</a:t>
            </a:r>
            <a:r>
              <a:rPr lang="zh-CN" altLang="en-US" sz="2000" dirty="0">
                <a:solidFill>
                  <a:schemeClr val="tx1"/>
                </a:solidFill>
              </a:rPr>
              <a:t>查询表</a:t>
            </a:r>
            <a:r>
              <a:rPr lang="en-US" altLang="zh-CN" sz="2000" dirty="0" err="1">
                <a:solidFill>
                  <a:schemeClr val="tx1"/>
                </a:solidFill>
              </a:rPr>
              <a:t>cimarron.attr_vals</a:t>
            </a:r>
            <a:r>
              <a:rPr lang="zh-CN" altLang="en-US" sz="2000" dirty="0">
                <a:solidFill>
                  <a:schemeClr val="tx1"/>
                </a:solidFill>
              </a:rPr>
              <a:t>报错，文件找不到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173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37278-9767-287A-7F21-50643A9FB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59992016-504A-B44C-204B-5DDAB57110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250" y="467150"/>
            <a:ext cx="11190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altLang="zh-CN" dirty="0"/>
              <a:t>Iceberg Data Commit </a:t>
            </a:r>
            <a:endParaRPr lang="en-US" altLang="zh-CN" sz="2800" dirty="0"/>
          </a:p>
        </p:txBody>
      </p:sp>
      <p:sp>
        <p:nvSpPr>
          <p:cNvPr id="8" name="Google Shape;19;p3">
            <a:extLst>
              <a:ext uri="{FF2B5EF4-FFF2-40B4-BE49-F238E27FC236}">
                <a16:creationId xmlns:a16="http://schemas.microsoft.com/office/drawing/2014/main" id="{74FA6CBD-BD25-BD15-4052-1F7DB17C6FFB}"/>
              </a:ext>
            </a:extLst>
          </p:cNvPr>
          <p:cNvSpPr txBox="1">
            <a:spLocks/>
          </p:cNvSpPr>
          <p:nvPr/>
        </p:nvSpPr>
        <p:spPr>
          <a:xfrm>
            <a:off x="606402" y="960306"/>
            <a:ext cx="11416858" cy="1033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测试二：提交到两个表，先逻辑删除，再</a:t>
            </a:r>
            <a:r>
              <a:rPr lang="en-US" altLang="zh-CN" sz="2000" dirty="0">
                <a:solidFill>
                  <a:schemeClr val="tx1"/>
                </a:solidFill>
              </a:rPr>
              <a:t>drop</a:t>
            </a:r>
            <a:r>
              <a:rPr lang="zh-CN" altLang="en-US" sz="2000" dirty="0">
                <a:solidFill>
                  <a:schemeClr val="tx1"/>
                </a:solidFill>
              </a:rPr>
              <a:t>表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相同文件，继续提交到</a:t>
            </a:r>
            <a:r>
              <a:rPr lang="en-US" altLang="zh-CN" sz="2000" dirty="0">
                <a:solidFill>
                  <a:schemeClr val="tx1"/>
                </a:solidFill>
              </a:rPr>
              <a:t>dorado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 err="1">
                <a:solidFill>
                  <a:schemeClr val="tx1"/>
                </a:solidFill>
              </a:rPr>
              <a:t>evans</a:t>
            </a:r>
            <a:r>
              <a:rPr lang="zh-CN" altLang="en-US" sz="2000" dirty="0">
                <a:solidFill>
                  <a:schemeClr val="tx1"/>
                </a:solidFill>
              </a:rPr>
              <a:t>的</a:t>
            </a:r>
            <a:r>
              <a:rPr lang="en-US" altLang="zh-CN" sz="2000" dirty="0" err="1">
                <a:solidFill>
                  <a:schemeClr val="tx1"/>
                </a:solidFill>
              </a:rPr>
              <a:t>attr_vals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EA9BE-1D3A-E670-2BDE-584109308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02" y="2201608"/>
            <a:ext cx="99060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78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C5D72-70AA-E2CB-D80C-46DEFFBFB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A2ED4246-8A03-9DD1-C84C-A1179717F8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250" y="467150"/>
            <a:ext cx="11190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altLang="zh-CN" dirty="0"/>
              <a:t>Iceberg Data Commit </a:t>
            </a:r>
            <a:endParaRPr lang="en-US" altLang="zh-CN" sz="2800" dirty="0"/>
          </a:p>
        </p:txBody>
      </p:sp>
      <p:sp>
        <p:nvSpPr>
          <p:cNvPr id="8" name="Google Shape;19;p3">
            <a:extLst>
              <a:ext uri="{FF2B5EF4-FFF2-40B4-BE49-F238E27FC236}">
                <a16:creationId xmlns:a16="http://schemas.microsoft.com/office/drawing/2014/main" id="{BFB426F5-0D5F-1358-DA7F-E570434DBC0A}"/>
              </a:ext>
            </a:extLst>
          </p:cNvPr>
          <p:cNvSpPr txBox="1">
            <a:spLocks/>
          </p:cNvSpPr>
          <p:nvPr/>
        </p:nvSpPr>
        <p:spPr>
          <a:xfrm>
            <a:off x="606402" y="960306"/>
            <a:ext cx="11416858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提交到</a:t>
            </a:r>
            <a:r>
              <a:rPr lang="en-US" altLang="zh-CN" sz="2000" dirty="0" err="1">
                <a:solidFill>
                  <a:schemeClr val="tx1"/>
                </a:solidFill>
              </a:rPr>
              <a:t>dorado.attr_vals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9" name="Google Shape;19;p3">
            <a:extLst>
              <a:ext uri="{FF2B5EF4-FFF2-40B4-BE49-F238E27FC236}">
                <a16:creationId xmlns:a16="http://schemas.microsoft.com/office/drawing/2014/main" id="{855536F3-DB0C-FB39-C8EA-34549D912003}"/>
              </a:ext>
            </a:extLst>
          </p:cNvPr>
          <p:cNvSpPr txBox="1">
            <a:spLocks/>
          </p:cNvSpPr>
          <p:nvPr/>
        </p:nvSpPr>
        <p:spPr>
          <a:xfrm>
            <a:off x="606402" y="3859140"/>
            <a:ext cx="11416858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提交到</a:t>
            </a:r>
            <a:r>
              <a:rPr lang="en-US" altLang="zh-CN" sz="2000" dirty="0" err="1">
                <a:solidFill>
                  <a:schemeClr val="tx1"/>
                </a:solidFill>
              </a:rPr>
              <a:t>evans.attr_vals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F742CE-3672-ABE2-F5F0-98C2DEDE3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02" y="1409265"/>
            <a:ext cx="10029825" cy="2362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52B433-189D-8BDA-00D9-E8CBEB5BE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14" y="4305735"/>
            <a:ext cx="97536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516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525DC-3903-FA2F-18ED-4703FA1BE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840D0494-8C30-227F-C781-521AE8C4B1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250" y="467150"/>
            <a:ext cx="11190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altLang="zh-CN" dirty="0"/>
              <a:t>Iceberg Data Commit </a:t>
            </a:r>
            <a:endParaRPr lang="en-US" altLang="zh-CN" sz="2800" dirty="0"/>
          </a:p>
        </p:txBody>
      </p:sp>
      <p:sp>
        <p:nvSpPr>
          <p:cNvPr id="8" name="Google Shape;19;p3">
            <a:extLst>
              <a:ext uri="{FF2B5EF4-FFF2-40B4-BE49-F238E27FC236}">
                <a16:creationId xmlns:a16="http://schemas.microsoft.com/office/drawing/2014/main" id="{2BF759E3-381D-FF90-6D9C-5014D802EB72}"/>
              </a:ext>
            </a:extLst>
          </p:cNvPr>
          <p:cNvSpPr txBox="1">
            <a:spLocks/>
          </p:cNvSpPr>
          <p:nvPr/>
        </p:nvSpPr>
        <p:spPr>
          <a:xfrm>
            <a:off x="606402" y="960306"/>
            <a:ext cx="11416858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CN" sz="2000" dirty="0">
                <a:solidFill>
                  <a:schemeClr val="tx1"/>
                </a:solidFill>
              </a:rPr>
              <a:t>Trino</a:t>
            </a:r>
            <a:r>
              <a:rPr lang="zh-CN" altLang="en-US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delete </a:t>
            </a:r>
            <a:r>
              <a:rPr lang="en-US" altLang="zh-CN" sz="2000" dirty="0" err="1">
                <a:solidFill>
                  <a:schemeClr val="tx1"/>
                </a:solidFill>
              </a:rPr>
              <a:t>dorado.attr_vals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10" name="Google Shape;19;p3">
            <a:extLst>
              <a:ext uri="{FF2B5EF4-FFF2-40B4-BE49-F238E27FC236}">
                <a16:creationId xmlns:a16="http://schemas.microsoft.com/office/drawing/2014/main" id="{CCE64F58-86F6-75E6-D998-D5045AC336B1}"/>
              </a:ext>
            </a:extLst>
          </p:cNvPr>
          <p:cNvSpPr txBox="1">
            <a:spLocks/>
          </p:cNvSpPr>
          <p:nvPr/>
        </p:nvSpPr>
        <p:spPr>
          <a:xfrm>
            <a:off x="533250" y="3020178"/>
            <a:ext cx="2658006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CN" sz="2000" dirty="0">
                <a:solidFill>
                  <a:schemeClr val="tx1"/>
                </a:solidFill>
              </a:rPr>
              <a:t>Dorado</a:t>
            </a:r>
            <a:r>
              <a:rPr lang="zh-CN" altLang="en-US" sz="2000" dirty="0">
                <a:solidFill>
                  <a:schemeClr val="tx1"/>
                </a:solidFill>
              </a:rPr>
              <a:t>数据为空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D64E0-AE0F-884D-FD89-D7BE08B46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02" y="3660063"/>
            <a:ext cx="4886325" cy="1247775"/>
          </a:xfrm>
          <a:prstGeom prst="rect">
            <a:avLst/>
          </a:prstGeom>
        </p:spPr>
      </p:pic>
      <p:sp>
        <p:nvSpPr>
          <p:cNvPr id="15" name="Google Shape;19;p3">
            <a:extLst>
              <a:ext uri="{FF2B5EF4-FFF2-40B4-BE49-F238E27FC236}">
                <a16:creationId xmlns:a16="http://schemas.microsoft.com/office/drawing/2014/main" id="{6E204E15-7856-E20B-EDF2-8BFDA8819FFC}"/>
              </a:ext>
            </a:extLst>
          </p:cNvPr>
          <p:cNvSpPr txBox="1">
            <a:spLocks/>
          </p:cNvSpPr>
          <p:nvPr/>
        </p:nvSpPr>
        <p:spPr>
          <a:xfrm>
            <a:off x="5830198" y="3004548"/>
            <a:ext cx="2893177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CN" sz="2000" dirty="0">
                <a:solidFill>
                  <a:schemeClr val="tx1"/>
                </a:solidFill>
              </a:rPr>
              <a:t>Evans</a:t>
            </a:r>
            <a:r>
              <a:rPr lang="zh-CN" altLang="en-US" sz="2000" dirty="0">
                <a:solidFill>
                  <a:schemeClr val="tx1"/>
                </a:solidFill>
              </a:rPr>
              <a:t>数据还存在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C6C919A-FBB6-860B-51FB-E107BF3E8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02" y="1441518"/>
            <a:ext cx="7962900" cy="14382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50A7234-37F6-1A6E-EB7F-2F386E2ED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6760" y="3574338"/>
            <a:ext cx="6286500" cy="13144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DC4FC66-6B75-620E-7326-E205E8D08D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64" y="5773293"/>
            <a:ext cx="9686925" cy="742950"/>
          </a:xfrm>
          <a:prstGeom prst="rect">
            <a:avLst/>
          </a:prstGeom>
        </p:spPr>
      </p:pic>
      <p:sp>
        <p:nvSpPr>
          <p:cNvPr id="25" name="Google Shape;19;p3">
            <a:extLst>
              <a:ext uri="{FF2B5EF4-FFF2-40B4-BE49-F238E27FC236}">
                <a16:creationId xmlns:a16="http://schemas.microsoft.com/office/drawing/2014/main" id="{E66F121C-4516-FD4A-3044-287695FC5149}"/>
              </a:ext>
            </a:extLst>
          </p:cNvPr>
          <p:cNvSpPr txBox="1">
            <a:spLocks/>
          </p:cNvSpPr>
          <p:nvPr/>
        </p:nvSpPr>
        <p:spPr>
          <a:xfrm>
            <a:off x="649264" y="5188608"/>
            <a:ext cx="2893177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文件还在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015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31426-3658-A8BA-8652-188702687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448028E1-7E04-E71B-C235-0F5E21E994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250" y="467150"/>
            <a:ext cx="11190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altLang="zh-CN" dirty="0"/>
              <a:t>Iceberg Data Commit </a:t>
            </a:r>
            <a:endParaRPr lang="en-US" altLang="zh-CN" sz="2800" dirty="0"/>
          </a:p>
        </p:txBody>
      </p:sp>
      <p:sp>
        <p:nvSpPr>
          <p:cNvPr id="8" name="Google Shape;19;p3">
            <a:extLst>
              <a:ext uri="{FF2B5EF4-FFF2-40B4-BE49-F238E27FC236}">
                <a16:creationId xmlns:a16="http://schemas.microsoft.com/office/drawing/2014/main" id="{1EF5FAEE-2480-38E7-0E0F-6076D579D7EE}"/>
              </a:ext>
            </a:extLst>
          </p:cNvPr>
          <p:cNvSpPr txBox="1">
            <a:spLocks/>
          </p:cNvSpPr>
          <p:nvPr/>
        </p:nvSpPr>
        <p:spPr>
          <a:xfrm>
            <a:off x="606402" y="960306"/>
            <a:ext cx="3270654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CN" sz="2000" dirty="0">
                <a:solidFill>
                  <a:schemeClr val="tx1"/>
                </a:solidFill>
              </a:rPr>
              <a:t>Drop table </a:t>
            </a:r>
            <a:r>
              <a:rPr lang="en-US" altLang="zh-CN" sz="2000" dirty="0" err="1">
                <a:solidFill>
                  <a:schemeClr val="tx1"/>
                </a:solidFill>
              </a:rPr>
              <a:t>dorado.attr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10" name="Google Shape;19;p3">
            <a:extLst>
              <a:ext uri="{FF2B5EF4-FFF2-40B4-BE49-F238E27FC236}">
                <a16:creationId xmlns:a16="http://schemas.microsoft.com/office/drawing/2014/main" id="{E4447BDA-7A24-55C8-7B10-6FB33740CCAD}"/>
              </a:ext>
            </a:extLst>
          </p:cNvPr>
          <p:cNvSpPr txBox="1">
            <a:spLocks/>
          </p:cNvSpPr>
          <p:nvPr/>
        </p:nvSpPr>
        <p:spPr>
          <a:xfrm>
            <a:off x="533250" y="3020178"/>
            <a:ext cx="2658006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CN" sz="2000" dirty="0">
                <a:solidFill>
                  <a:schemeClr val="tx1"/>
                </a:solidFill>
              </a:rPr>
              <a:t>Data</a:t>
            </a:r>
            <a:r>
              <a:rPr lang="zh-CN" altLang="en-US" sz="2000" dirty="0">
                <a:solidFill>
                  <a:schemeClr val="tx1"/>
                </a:solidFill>
              </a:rPr>
              <a:t>文件也被删除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E5576F-E6AB-9DD0-B5BD-F2051ED33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78" y="1459806"/>
            <a:ext cx="4448175" cy="809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DE80CB-8942-90C8-F552-7A7ED6AD0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198" y="1210056"/>
            <a:ext cx="4076700" cy="1790700"/>
          </a:xfrm>
          <a:prstGeom prst="rect">
            <a:avLst/>
          </a:prstGeom>
        </p:spPr>
      </p:pic>
      <p:sp>
        <p:nvSpPr>
          <p:cNvPr id="6" name="Google Shape;19;p3">
            <a:extLst>
              <a:ext uri="{FF2B5EF4-FFF2-40B4-BE49-F238E27FC236}">
                <a16:creationId xmlns:a16="http://schemas.microsoft.com/office/drawing/2014/main" id="{77BBA212-DDCD-FF21-7B0C-31A00C04850F}"/>
              </a:ext>
            </a:extLst>
          </p:cNvPr>
          <p:cNvSpPr txBox="1">
            <a:spLocks/>
          </p:cNvSpPr>
          <p:nvPr/>
        </p:nvSpPr>
        <p:spPr>
          <a:xfrm>
            <a:off x="5830198" y="802085"/>
            <a:ext cx="40767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CN" sz="2000" dirty="0">
                <a:solidFill>
                  <a:schemeClr val="tx1"/>
                </a:solidFill>
              </a:rPr>
              <a:t>Dorado</a:t>
            </a:r>
            <a:r>
              <a:rPr lang="zh-CN" altLang="en-US" sz="2000" dirty="0">
                <a:solidFill>
                  <a:schemeClr val="tx1"/>
                </a:solidFill>
              </a:rPr>
              <a:t>表</a:t>
            </a:r>
            <a:r>
              <a:rPr lang="en-US" altLang="zh-CN" sz="2000" dirty="0">
                <a:solidFill>
                  <a:schemeClr val="tx1"/>
                </a:solidFill>
              </a:rPr>
              <a:t>metadata</a:t>
            </a:r>
            <a:r>
              <a:rPr lang="zh-CN" altLang="en-US" sz="2000" dirty="0">
                <a:solidFill>
                  <a:schemeClr val="tx1"/>
                </a:solidFill>
              </a:rPr>
              <a:t>被删除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8E82A2-770F-4892-9195-59E15087D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50" y="3623392"/>
            <a:ext cx="7629525" cy="7905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829BA3-6A31-ED32-D492-ADDFCC554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402" y="4926173"/>
            <a:ext cx="7318312" cy="1786831"/>
          </a:xfrm>
          <a:prstGeom prst="rect">
            <a:avLst/>
          </a:prstGeom>
        </p:spPr>
      </p:pic>
      <p:sp>
        <p:nvSpPr>
          <p:cNvPr id="14" name="Google Shape;19;p3">
            <a:extLst>
              <a:ext uri="{FF2B5EF4-FFF2-40B4-BE49-F238E27FC236}">
                <a16:creationId xmlns:a16="http://schemas.microsoft.com/office/drawing/2014/main" id="{57380575-1B53-66BC-3B70-2EB04F76D39F}"/>
              </a:ext>
            </a:extLst>
          </p:cNvPr>
          <p:cNvSpPr txBox="1">
            <a:spLocks/>
          </p:cNvSpPr>
          <p:nvPr/>
        </p:nvSpPr>
        <p:spPr>
          <a:xfrm>
            <a:off x="663878" y="4426673"/>
            <a:ext cx="5279722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查询</a:t>
            </a:r>
            <a:r>
              <a:rPr lang="en-US" altLang="zh-CN" sz="2000" dirty="0" err="1">
                <a:solidFill>
                  <a:schemeClr val="tx1"/>
                </a:solidFill>
              </a:rPr>
              <a:t>evans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</a:rPr>
              <a:t>attr_vals</a:t>
            </a:r>
            <a:r>
              <a:rPr lang="zh-CN" altLang="en-US" sz="2000" dirty="0">
                <a:solidFill>
                  <a:schemeClr val="tx1"/>
                </a:solidFill>
              </a:rPr>
              <a:t>，报错找不到文件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855868"/>
      </p:ext>
    </p:extLst>
  </p:cSld>
  <p:clrMapOvr>
    <a:masterClrMapping/>
  </p:clrMapOvr>
</p:sld>
</file>

<file path=ppt/theme/theme1.xml><?xml version="1.0" encoding="utf-8"?>
<a:theme xmlns:a="http://schemas.openxmlformats.org/drawingml/2006/main" name="1_Seagate_Template_2017">
  <a:themeElements>
    <a:clrScheme name="New Seagate Theme 2">
      <a:dk1>
        <a:srgbClr val="000000"/>
      </a:dk1>
      <a:lt1>
        <a:srgbClr val="FFFFFF"/>
      </a:lt1>
      <a:dk2>
        <a:srgbClr val="78777A"/>
      </a:dk2>
      <a:lt2>
        <a:srgbClr val="FFFFFF"/>
      </a:lt2>
      <a:accent1>
        <a:srgbClr val="6EBE49"/>
      </a:accent1>
      <a:accent2>
        <a:srgbClr val="868589"/>
      </a:accent2>
      <a:accent3>
        <a:srgbClr val="000000"/>
      </a:accent3>
      <a:accent4>
        <a:srgbClr val="F8BE15"/>
      </a:accent4>
      <a:accent5>
        <a:srgbClr val="00A1DD"/>
      </a:accent5>
      <a:accent6>
        <a:srgbClr val="008F98"/>
      </a:accent6>
      <a:hlink>
        <a:srgbClr val="6EBE4A"/>
      </a:hlink>
      <a:folHlink>
        <a:srgbClr val="8685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56e366eb-86f1-4645-85a7-f29555b26fee}" enabled="1" method="Standard" siteId="{d466216a-c643-434a-9c2e-057448c17cb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48135</TotalTime>
  <Words>279</Words>
  <Application>Microsoft Office PowerPoint</Application>
  <PresentationFormat>Custom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1_Seagate_Template_2017</vt:lpstr>
      <vt:lpstr>2026-03-04</vt:lpstr>
      <vt:lpstr>Iceberg Data Commit </vt:lpstr>
      <vt:lpstr>Iceberg Data Commit </vt:lpstr>
      <vt:lpstr>Iceberg Data Commit </vt:lpstr>
      <vt:lpstr>Iceberg Data Commit </vt:lpstr>
      <vt:lpstr>Iceberg Data Commit </vt:lpstr>
      <vt:lpstr>Iceberg Data Commit </vt:lpstr>
      <vt:lpstr>Iceberg Data Commit </vt:lpstr>
      <vt:lpstr>Iceberg Data Commit </vt:lpstr>
      <vt:lpstr>Iceberg Data Commit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ZhenYang Dong</cp:lastModifiedBy>
  <cp:revision>63</cp:revision>
  <dcterms:modified xsi:type="dcterms:W3CDTF">2026-03-04T08:10:06Z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1_Seagate_Template_2017:3</vt:lpwstr>
  </property>
  <property fmtid="{D5CDD505-2E9C-101B-9397-08002B2CF9AE}" pid="3" name="ClassificationContentMarkingFooterText">
    <vt:lpwstr>Seagate Internal</vt:lpwstr>
  </property>
</Properties>
</file>