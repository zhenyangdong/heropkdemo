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12"/>
  </p:notesMasterIdLst>
  <p:sldIdLst>
    <p:sldId id="271" r:id="rId2"/>
    <p:sldId id="315" r:id="rId3"/>
    <p:sldId id="327" r:id="rId4"/>
    <p:sldId id="316" r:id="rId5"/>
    <p:sldId id="331" r:id="rId6"/>
    <p:sldId id="319" r:id="rId7"/>
    <p:sldId id="330" r:id="rId8"/>
    <p:sldId id="329" r:id="rId9"/>
    <p:sldId id="326" r:id="rId10"/>
    <p:sldId id="328" r:id="rId11"/>
  </p:sldIdLst>
  <p:sldSz cx="12188825" cy="6858000"/>
  <p:notesSz cx="6985000" cy="9283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6E658-F341-08F6-5EF3-5D66C8A1B314}" v="2" dt="2020-04-16T08:33:03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0050" y="696913"/>
            <a:ext cx="618490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47860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ub Heading_Body">
  <p:cSld name="Custom Layout 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9966300" y="6532000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Seagate Internal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546175" y="945550"/>
            <a:ext cx="111777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" name="Google Shape;21;p3" descr="sgicon_transparen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23782" y="6481337"/>
            <a:ext cx="324300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11096676" y="6506275"/>
            <a:ext cx="4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11546137" y="654200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11096687" y="654205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 txBox="1">
            <a:spLocks noGrp="1"/>
          </p:cNvSpPr>
          <p:nvPr>
            <p:ph type="body" idx="2"/>
          </p:nvPr>
        </p:nvSpPr>
        <p:spPr>
          <a:xfrm>
            <a:off x="546175" y="2016675"/>
            <a:ext cx="111906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Body_Only">
  <p:cSld name="Custom Layout 1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33250" y="1961475"/>
            <a:ext cx="11190600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9" name="Google Shape;29;p4" descr="sgicon_transparen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23782" y="6481337"/>
            <a:ext cx="324300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/>
        </p:nvSpPr>
        <p:spPr>
          <a:xfrm>
            <a:off x="11096676" y="6506275"/>
            <a:ext cx="4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11546137" y="654200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>
            <a:off x="11096687" y="654205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4"/>
          <p:cNvSpPr txBox="1"/>
          <p:nvPr/>
        </p:nvSpPr>
        <p:spPr>
          <a:xfrm>
            <a:off x="9964725" y="6532000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Seagate Internal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5D373-32A1-D7C9-0B8F-17742CFE3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2900" y="6705600"/>
            <a:ext cx="8715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Seagate 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466271" y="2929500"/>
            <a:ext cx="285994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2026-01-27</a:t>
            </a:r>
            <a:endParaRPr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10B-D071-E2BF-A82E-B105F4B7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C9C083A3-5DDB-6684-7CDD-79D743FA3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</a:t>
            </a:r>
          </a:p>
        </p:txBody>
      </p:sp>
      <p:sp>
        <p:nvSpPr>
          <p:cNvPr id="2" name="Google Shape;19;p3">
            <a:extLst>
              <a:ext uri="{FF2B5EF4-FFF2-40B4-BE49-F238E27FC236}">
                <a16:creationId xmlns:a16="http://schemas.microsoft.com/office/drawing/2014/main" id="{15486BC8-1B33-94E4-A918-8773C031A83C}"/>
              </a:ext>
            </a:extLst>
          </p:cNvPr>
          <p:cNvSpPr txBox="1">
            <a:spLocks/>
          </p:cNvSpPr>
          <p:nvPr/>
        </p:nvSpPr>
        <p:spPr>
          <a:xfrm>
            <a:off x="606402" y="1030658"/>
            <a:ext cx="11416858" cy="373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隐藏分区根据已有字段做函数转换，生成分区，不需要额外在表中添加分区列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分区函数通常包含以下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Identity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Bucket[N]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Truncate[W]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Year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Month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Day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Hour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46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BBD02-31FC-026F-E514-C87592A4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DA41A573-DB2C-76D1-AE24-B8483D60B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36F967-2493-0CD9-D6FF-0221CB9E9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01211"/>
              </p:ext>
            </p:extLst>
          </p:nvPr>
        </p:nvGraphicFramePr>
        <p:xfrm>
          <a:off x="533250" y="1634772"/>
          <a:ext cx="10235142" cy="4892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271">
                  <a:extLst>
                    <a:ext uri="{9D8B030D-6E8A-4147-A177-3AD203B41FA5}">
                      <a16:colId xmlns:a16="http://schemas.microsoft.com/office/drawing/2014/main" val="1847645154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430324639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195704422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511298831"/>
                    </a:ext>
                  </a:extLst>
                </a:gridCol>
                <a:gridCol w="2195391">
                  <a:extLst>
                    <a:ext uri="{9D8B030D-6E8A-4147-A177-3AD203B41FA5}">
                      <a16:colId xmlns:a16="http://schemas.microsoft.com/office/drawing/2014/main" val="87239088"/>
                    </a:ext>
                  </a:extLst>
                </a:gridCol>
                <a:gridCol w="1705857">
                  <a:extLst>
                    <a:ext uri="{9D8B030D-6E8A-4147-A177-3AD203B41FA5}">
                      <a16:colId xmlns:a16="http://schemas.microsoft.com/office/drawing/2014/main" val="3606192504"/>
                    </a:ext>
                  </a:extLst>
                </a:gridCol>
              </a:tblGrid>
              <a:tr h="519942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分区列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存储路径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分区类型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示例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场景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027935"/>
                  </a:ext>
                </a:extLst>
              </a:tr>
              <a:tr h="1025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Identity</a:t>
                      </a:r>
                      <a:r>
                        <a:rPr lang="zh-CN" altLang="en-US" dirty="0"/>
                        <a:t>分区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表中的原始列</a:t>
                      </a:r>
                      <a:r>
                        <a:rPr lang="en-US" altLang="zh-CN" dirty="0" err="1"/>
                        <a:t>event_date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attr_vals</a:t>
                      </a:r>
                      <a:r>
                        <a:rPr lang="en-US" dirty="0"/>
                        <a:t>/data/</a:t>
                      </a:r>
                      <a:r>
                        <a:rPr lang="en-US" altLang="zh-CN" dirty="0" err="1"/>
                        <a:t>event_date</a:t>
                      </a:r>
                      <a:r>
                        <a:rPr lang="en-US" altLang="zh-CN" dirty="0"/>
                        <a:t>=2025-10-01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/>
                        <a:t>event_date</a:t>
                      </a:r>
                      <a:endParaRPr lang="en-US" altLang="zh-CN" dirty="0"/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zh-CN" altLang="en-US" dirty="0"/>
                        <a:t>按照</a:t>
                      </a:r>
                      <a:r>
                        <a:rPr lang="en-US" altLang="zh-CN" dirty="0" err="1"/>
                        <a:t>event_date</a:t>
                      </a:r>
                      <a:r>
                        <a:rPr lang="zh-CN" altLang="en-US" dirty="0"/>
                        <a:t>原始值分区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低基数列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Region</a:t>
                      </a:r>
                    </a:p>
                    <a:p>
                      <a:pPr algn="l"/>
                      <a:r>
                        <a:rPr lang="en-US" altLang="zh-CN" dirty="0"/>
                        <a:t>Department</a:t>
                      </a:r>
                    </a:p>
                    <a:p>
                      <a:pPr algn="l"/>
                      <a:r>
                        <a:rPr lang="en-US" altLang="zh-CN" dirty="0"/>
                        <a:t>Status</a:t>
                      </a:r>
                    </a:p>
                    <a:p>
                      <a:pPr algn="l"/>
                      <a:r>
                        <a:rPr lang="en-US" altLang="zh-CN" dirty="0"/>
                        <a:t>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744519"/>
                  </a:ext>
                </a:extLst>
              </a:tr>
              <a:tr h="132478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dirty="0"/>
                        <a:t>非</a:t>
                      </a:r>
                      <a:r>
                        <a:rPr lang="en-US" altLang="zh-CN" dirty="0"/>
                        <a:t>identity</a:t>
                      </a:r>
                      <a:r>
                        <a:rPr lang="zh-CN" altLang="en-US" dirty="0"/>
                        <a:t>分区</a:t>
                      </a:r>
                      <a:endParaRPr 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dirty="0"/>
                        <a:t>对原始列的加工</a:t>
                      </a:r>
                      <a:r>
                        <a:rPr lang="en-US" altLang="zh-CN" dirty="0"/>
                        <a:t>year(</a:t>
                      </a:r>
                      <a:r>
                        <a:rPr lang="en-US" altLang="zh-CN" dirty="0" err="1"/>
                        <a:t>event_date</a:t>
                      </a:r>
                      <a:r>
                        <a:rPr lang="en-US" altLang="zh-CN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attr_vals</a:t>
                      </a:r>
                      <a:r>
                        <a:rPr lang="en-US" dirty="0"/>
                        <a:t>/data/</a:t>
                      </a:r>
                      <a:r>
                        <a:rPr lang="en-US" altLang="zh-CN" dirty="0" err="1"/>
                        <a:t>event_date_year</a:t>
                      </a:r>
                      <a:r>
                        <a:rPr lang="en-US" altLang="zh-CN" dirty="0"/>
                        <a:t>=2025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Bucket(serial_num,,16)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zh-CN" altLang="en-US" dirty="0"/>
                        <a:t>根据</a:t>
                      </a:r>
                      <a:r>
                        <a:rPr lang="en-US" altLang="zh-CN" dirty="0" err="1"/>
                        <a:t>serial_num</a:t>
                      </a:r>
                      <a:r>
                        <a:rPr lang="zh-CN" altLang="en-US" dirty="0"/>
                        <a:t>做</a:t>
                      </a:r>
                      <a:r>
                        <a:rPr lang="en-US" altLang="zh-CN" dirty="0"/>
                        <a:t>hash</a:t>
                      </a:r>
                      <a:r>
                        <a:rPr lang="zh-CN" altLang="en-US" dirty="0"/>
                        <a:t>分成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个桶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高基数列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 err="1"/>
                        <a:t>User_id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 err="1"/>
                        <a:t>Order_id</a:t>
                      </a:r>
                      <a:endParaRPr lang="en-US" altLang="zh-CN" dirty="0"/>
                    </a:p>
                    <a:p>
                      <a:pPr algn="l"/>
                      <a:r>
                        <a:rPr lang="en-US" dirty="0" err="1"/>
                        <a:t>Serial_num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726813"/>
                  </a:ext>
                </a:extLst>
              </a:tr>
              <a:tr h="5199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Truncate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Truncate(serial_num,3)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zh-CN" altLang="en-US" dirty="0"/>
                        <a:t>根据</a:t>
                      </a:r>
                      <a:r>
                        <a:rPr lang="en-US" altLang="zh-CN" dirty="0" err="1"/>
                        <a:t>serial_num</a:t>
                      </a:r>
                      <a:r>
                        <a:rPr lang="zh-CN" altLang="en-US" dirty="0"/>
                        <a:t>前三位分区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长字符串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 err="1"/>
                        <a:t>Url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 err="1"/>
                        <a:t>File_path</a:t>
                      </a:r>
                      <a:endParaRPr lang="en-US" altLang="zh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768239"/>
                  </a:ext>
                </a:extLst>
              </a:tr>
              <a:tr h="7264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Year</a:t>
                      </a:r>
                    </a:p>
                    <a:p>
                      <a:pPr algn="l"/>
                      <a:r>
                        <a:rPr lang="en-US" dirty="0"/>
                        <a:t>Month</a:t>
                      </a:r>
                    </a:p>
                    <a:p>
                      <a:pPr algn="l"/>
                      <a:r>
                        <a:rPr lang="en-US" dirty="0"/>
                        <a:t>Day</a:t>
                      </a:r>
                    </a:p>
                    <a:p>
                      <a:pPr algn="l"/>
                      <a:r>
                        <a:rPr lang="en-US" dirty="0"/>
                        <a:t>Hour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Year(</a:t>
                      </a:r>
                      <a:r>
                        <a:rPr lang="en-US" altLang="zh-CN" dirty="0" err="1"/>
                        <a:t>event_date</a:t>
                      </a:r>
                      <a:r>
                        <a:rPr lang="en-US" altLang="zh-CN" dirty="0"/>
                        <a:t>)</a:t>
                      </a:r>
                    </a:p>
                    <a:p>
                      <a:pPr algn="l"/>
                      <a:r>
                        <a:rPr lang="en-US" dirty="0"/>
                        <a:t>(</a:t>
                      </a:r>
                      <a:r>
                        <a:rPr lang="zh-CN" altLang="en-US" dirty="0"/>
                        <a:t>必须为时间类型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时间列</a:t>
                      </a:r>
                      <a:endParaRPr lang="en-US" altLang="zh-CN" dirty="0"/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4174"/>
                  </a:ext>
                </a:extLst>
              </a:tr>
            </a:tbl>
          </a:graphicData>
        </a:graphic>
      </p:graphicFrame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A8C65219-C0C8-81BC-B997-D41F39041B49}"/>
              </a:ext>
            </a:extLst>
          </p:cNvPr>
          <p:cNvSpPr txBox="1">
            <a:spLocks/>
          </p:cNvSpPr>
          <p:nvPr/>
        </p:nvSpPr>
        <p:spPr>
          <a:xfrm>
            <a:off x="606402" y="1030658"/>
            <a:ext cx="11416858" cy="68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隐藏分区类型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60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12C1E-6510-4A08-F2EC-84F24FFC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;p3">
            <a:extLst>
              <a:ext uri="{FF2B5EF4-FFF2-40B4-BE49-F238E27FC236}">
                <a16:creationId xmlns:a16="http://schemas.microsoft.com/office/drawing/2014/main" id="{CC6375B2-483E-9BF7-0FFC-47856029AF10}"/>
              </a:ext>
            </a:extLst>
          </p:cNvPr>
          <p:cNvSpPr txBox="1">
            <a:spLocks/>
          </p:cNvSpPr>
          <p:nvPr/>
        </p:nvSpPr>
        <p:spPr>
          <a:xfrm>
            <a:off x="533400" y="1047193"/>
            <a:ext cx="11416858" cy="534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Truncate</a:t>
            </a:r>
            <a:r>
              <a:rPr lang="zh-CN" altLang="en-US" sz="2000" dirty="0">
                <a:solidFill>
                  <a:schemeClr val="tx1"/>
                </a:solidFill>
              </a:rPr>
              <a:t>分区示例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在三级分区下创建基于</a:t>
            </a:r>
            <a:r>
              <a:rPr lang="en-US" altLang="zh-CN" sz="2000" dirty="0" err="1">
                <a:solidFill>
                  <a:schemeClr val="tx1"/>
                </a:solidFill>
              </a:rPr>
              <a:t>serial_num</a:t>
            </a:r>
            <a:r>
              <a:rPr lang="zh-CN" altLang="en-US" sz="2000" dirty="0">
                <a:solidFill>
                  <a:schemeClr val="tx1"/>
                </a:solidFill>
              </a:rPr>
              <a:t>前三位的分区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CREATE TABLE icebergrestbk5.summit.attr_vals (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serial_num</a:t>
            </a:r>
            <a:r>
              <a:rPr lang="en-US" sz="1400" dirty="0">
                <a:solidFill>
                  <a:schemeClr val="tx1"/>
                </a:solidFill>
              </a:rPr>
              <a:t> varchar,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trans_seq</a:t>
            </a:r>
            <a:r>
              <a:rPr lang="en-US" sz="1400" dirty="0">
                <a:solidFill>
                  <a:schemeClr val="tx1"/>
                </a:solidFill>
              </a:rPr>
              <a:t> varchar,</a:t>
            </a:r>
          </a:p>
          <a:p>
            <a:r>
              <a:rPr lang="en-US" sz="1400" dirty="0">
                <a:solidFill>
                  <a:schemeClr val="tx1"/>
                </a:solidFill>
              </a:rPr>
              <a:t>seq varchar,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……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drive_event_date</a:t>
            </a:r>
            <a:r>
              <a:rPr lang="en-US" sz="1400" dirty="0">
                <a:solidFill>
                  <a:schemeClr val="tx1"/>
                </a:solidFill>
              </a:rPr>
              <a:t> varchar,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fail_code</a:t>
            </a:r>
            <a:r>
              <a:rPr lang="en-US" sz="1400" dirty="0">
                <a:solidFill>
                  <a:schemeClr val="tx1"/>
                </a:solidFill>
              </a:rPr>
              <a:t> varchar,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event_date</a:t>
            </a:r>
            <a:r>
              <a:rPr lang="en-US" sz="1400" dirty="0">
                <a:solidFill>
                  <a:schemeClr val="tx1"/>
                </a:solidFill>
              </a:rPr>
              <a:t> varchar,</a:t>
            </a:r>
          </a:p>
          <a:p>
            <a:r>
              <a:rPr lang="en-US" sz="1400" dirty="0">
                <a:solidFill>
                  <a:schemeClr val="tx1"/>
                </a:solidFill>
              </a:rPr>
              <a:t>family varchar,</a:t>
            </a:r>
          </a:p>
          <a:p>
            <a:r>
              <a:rPr lang="en-US" sz="1400" dirty="0">
                <a:solidFill>
                  <a:schemeClr val="tx1"/>
                </a:solidFill>
              </a:rPr>
              <a:t>operation varchar</a:t>
            </a:r>
          </a:p>
          <a:p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WITH (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compression_codec</a:t>
            </a:r>
            <a:r>
              <a:rPr lang="en-US" sz="1400" dirty="0">
                <a:solidFill>
                  <a:schemeClr val="tx1"/>
                </a:solidFill>
              </a:rPr>
              <a:t> = 'ZSTD',</a:t>
            </a:r>
          </a:p>
          <a:p>
            <a:r>
              <a:rPr lang="en-US" sz="1400" dirty="0">
                <a:solidFill>
                  <a:schemeClr val="tx1"/>
                </a:solidFill>
              </a:rPr>
              <a:t>format = 'PARQUET',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format_version</a:t>
            </a:r>
            <a:r>
              <a:rPr lang="en-US" sz="1400" dirty="0">
                <a:solidFill>
                  <a:schemeClr val="tx1"/>
                </a:solidFill>
              </a:rPr>
              <a:t> = 2,</a:t>
            </a:r>
          </a:p>
          <a:p>
            <a:r>
              <a:rPr lang="en-US" sz="1400" dirty="0">
                <a:solidFill>
                  <a:schemeClr val="tx1"/>
                </a:solidFill>
              </a:rPr>
              <a:t>location = s3a://kor-gfit-dev-uss01/ice_warehouse_bk2/summit/attr_vals ',</a:t>
            </a:r>
          </a:p>
          <a:p>
            <a:r>
              <a:rPr lang="en-US" sz="1400" dirty="0">
                <a:solidFill>
                  <a:schemeClr val="tx1"/>
                </a:solidFill>
              </a:rPr>
              <a:t>partitioning = ARRAY['</a:t>
            </a:r>
            <a:r>
              <a:rPr lang="en-US" sz="1400" dirty="0" err="1">
                <a:solidFill>
                  <a:schemeClr val="tx1"/>
                </a:solidFill>
              </a:rPr>
              <a:t>event_date','family','operation',</a:t>
            </a:r>
            <a:r>
              <a:rPr lang="en-US" sz="1400" dirty="0" err="1">
                <a:solidFill>
                  <a:srgbClr val="FF0000"/>
                </a:solidFill>
              </a:rPr>
              <a:t>'truncate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 err="1">
                <a:solidFill>
                  <a:srgbClr val="FF0000"/>
                </a:solidFill>
              </a:rPr>
              <a:t>serial_num</a:t>
            </a:r>
            <a:r>
              <a:rPr lang="en-US" sz="1400" dirty="0">
                <a:solidFill>
                  <a:srgbClr val="FF0000"/>
                </a:solidFill>
              </a:rPr>
              <a:t>, 3)']</a:t>
            </a:r>
          </a:p>
          <a:p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endParaRPr lang="en-US" altLang="zh-CN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B886D50C-1FD7-B837-82A1-75F94DCE1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66725"/>
            <a:ext cx="111902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 – Test case</a:t>
            </a:r>
          </a:p>
        </p:txBody>
      </p:sp>
    </p:spTree>
    <p:extLst>
      <p:ext uri="{BB962C8B-B14F-4D97-AF65-F5344CB8AC3E}">
        <p14:creationId xmlns:p14="http://schemas.microsoft.com/office/powerpoint/2010/main" val="366583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7267D-A35F-57F6-6B76-380C9CA9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;p3">
            <a:extLst>
              <a:ext uri="{FF2B5EF4-FFF2-40B4-BE49-F238E27FC236}">
                <a16:creationId xmlns:a16="http://schemas.microsoft.com/office/drawing/2014/main" id="{371FDF64-A6AA-804B-EAB4-B03E939F0B35}"/>
              </a:ext>
            </a:extLst>
          </p:cNvPr>
          <p:cNvSpPr txBox="1">
            <a:spLocks/>
          </p:cNvSpPr>
          <p:nvPr/>
        </p:nvSpPr>
        <p:spPr>
          <a:xfrm>
            <a:off x="533400" y="1047193"/>
            <a:ext cx="11416858" cy="671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元数据</a:t>
            </a:r>
            <a:r>
              <a:rPr lang="en-US" altLang="zh-CN" sz="1400" dirty="0" err="1">
                <a:solidFill>
                  <a:schemeClr val="tx1"/>
                </a:solidFill>
              </a:rPr>
              <a:t>json</a:t>
            </a:r>
            <a:r>
              <a:rPr lang="zh-CN" altLang="en-US" sz="1400" dirty="0">
                <a:solidFill>
                  <a:schemeClr val="tx1"/>
                </a:solidFill>
              </a:rPr>
              <a:t>中的分区信息，原分区三列类型为</a:t>
            </a:r>
            <a:r>
              <a:rPr lang="en-US" altLang="zh-CN" sz="1400" dirty="0">
                <a:solidFill>
                  <a:schemeClr val="tx1"/>
                </a:solidFill>
              </a:rPr>
              <a:t>identity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 err="1">
                <a:solidFill>
                  <a:schemeClr val="tx1"/>
                </a:solidFill>
              </a:rPr>
              <a:t>serial_num</a:t>
            </a:r>
            <a:r>
              <a:rPr lang="zh-CN" altLang="en-US" sz="1400" dirty="0">
                <a:solidFill>
                  <a:schemeClr val="tx1"/>
                </a:solidFill>
              </a:rPr>
              <a:t>分区类型为</a:t>
            </a:r>
            <a:r>
              <a:rPr lang="en-US" altLang="zh-CN" sz="1400" dirty="0">
                <a:solidFill>
                  <a:schemeClr val="tx1"/>
                </a:solidFill>
              </a:rPr>
              <a:t>truncate</a:t>
            </a: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22367BE3-B09B-EFB8-950F-B9D33F171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66725"/>
            <a:ext cx="111902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 – Test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114F2-4DDE-A62D-6843-73500314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17765"/>
            <a:ext cx="28670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4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3D654-70A8-8E5C-20A3-4C5BD8AA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;p3">
            <a:extLst>
              <a:ext uri="{FF2B5EF4-FFF2-40B4-BE49-F238E27FC236}">
                <a16:creationId xmlns:a16="http://schemas.microsoft.com/office/drawing/2014/main" id="{66835AC9-939D-E052-71C9-A40569969548}"/>
              </a:ext>
            </a:extLst>
          </p:cNvPr>
          <p:cNvSpPr txBox="1">
            <a:spLocks/>
          </p:cNvSpPr>
          <p:nvPr/>
        </p:nvSpPr>
        <p:spPr>
          <a:xfrm>
            <a:off x="565780" y="1023111"/>
            <a:ext cx="10895650" cy="128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插入一条数据后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S3 data</a:t>
            </a:r>
            <a:r>
              <a:rPr lang="zh-CN" altLang="en-US" sz="2000" dirty="0">
                <a:solidFill>
                  <a:schemeClr val="tx1"/>
                </a:solidFill>
              </a:rPr>
              <a:t>目录结构，增加了</a:t>
            </a:r>
            <a:r>
              <a:rPr lang="en-US" altLang="zh-CN" sz="2000" dirty="0" err="1">
                <a:solidFill>
                  <a:schemeClr val="tx1"/>
                </a:solidFill>
              </a:rPr>
              <a:t>serial_num_trunc</a:t>
            </a:r>
            <a:r>
              <a:rPr lang="en-US" altLang="zh-CN" sz="2000" dirty="0">
                <a:solidFill>
                  <a:schemeClr val="tx1"/>
                </a:solidFill>
              </a:rPr>
              <a:t>=</a:t>
            </a:r>
            <a:r>
              <a:rPr lang="en-US" altLang="zh-CN" sz="2000" dirty="0" err="1">
                <a:solidFill>
                  <a:schemeClr val="tx1"/>
                </a:solidFill>
              </a:rPr>
              <a:t>aaa</a:t>
            </a:r>
            <a:r>
              <a:rPr lang="zh-CN" altLang="en-US" sz="2000" dirty="0">
                <a:solidFill>
                  <a:schemeClr val="tx1"/>
                </a:solidFill>
              </a:rPr>
              <a:t>的分区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823F414B-75F7-4FA7-F6DC-C77DE4619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66725"/>
            <a:ext cx="111902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</a:t>
            </a:r>
            <a:r>
              <a:rPr lang="en-US" altLang="zh-CN" dirty="0"/>
              <a:t> – Test case</a:t>
            </a:r>
            <a:endParaRPr lang="en-US" altLang="zh-C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5F5F3-9388-2602-FC17-CEFBB4FC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05" y="2208276"/>
            <a:ext cx="106680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2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0A5B-1EA8-32BF-199E-135C5AE0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;p3">
            <a:extLst>
              <a:ext uri="{FF2B5EF4-FFF2-40B4-BE49-F238E27FC236}">
                <a16:creationId xmlns:a16="http://schemas.microsoft.com/office/drawing/2014/main" id="{5A5A6B73-221E-007C-0103-5741EAF69C20}"/>
              </a:ext>
            </a:extLst>
          </p:cNvPr>
          <p:cNvSpPr txBox="1">
            <a:spLocks/>
          </p:cNvSpPr>
          <p:nvPr/>
        </p:nvSpPr>
        <p:spPr>
          <a:xfrm>
            <a:off x="565780" y="1023111"/>
            <a:ext cx="10895650" cy="62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Iceberg</a:t>
            </a:r>
            <a:r>
              <a:rPr lang="zh-CN" altLang="en-US" sz="2000" dirty="0">
                <a:solidFill>
                  <a:schemeClr val="tx1"/>
                </a:solidFill>
              </a:rPr>
              <a:t>的元数据</a:t>
            </a:r>
            <a:r>
              <a:rPr lang="en-US" altLang="zh-CN" sz="2000" dirty="0">
                <a:solidFill>
                  <a:schemeClr val="tx1"/>
                </a:solidFill>
              </a:rPr>
              <a:t>manifest</a:t>
            </a:r>
            <a:r>
              <a:rPr lang="zh-CN" altLang="en-US" sz="2000" dirty="0">
                <a:solidFill>
                  <a:schemeClr val="tx1"/>
                </a:solidFill>
              </a:rPr>
              <a:t>中写入了</a:t>
            </a:r>
            <a:r>
              <a:rPr lang="en-US" altLang="zh-CN" sz="2000" dirty="0" err="1">
                <a:solidFill>
                  <a:schemeClr val="tx1"/>
                </a:solidFill>
              </a:rPr>
              <a:t>serial_num</a:t>
            </a:r>
            <a:r>
              <a:rPr lang="zh-CN" altLang="en-US" sz="2000" dirty="0">
                <a:solidFill>
                  <a:schemeClr val="tx1"/>
                </a:solidFill>
              </a:rPr>
              <a:t>分区信息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FD71E8A2-DBE1-38C2-6CA2-84DF0E515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66725"/>
            <a:ext cx="111902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</a:t>
            </a:r>
            <a:r>
              <a:rPr lang="en-US" altLang="zh-CN" dirty="0"/>
              <a:t> – Test case</a:t>
            </a:r>
            <a:endParaRPr lang="en-US" altLang="zh-C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09C17-A816-060A-AFD8-CC8514B1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0" y="1702243"/>
            <a:ext cx="27527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F54D-CA5F-59C9-C15E-4060AAAB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;p3">
            <a:extLst>
              <a:ext uri="{FF2B5EF4-FFF2-40B4-BE49-F238E27FC236}">
                <a16:creationId xmlns:a16="http://schemas.microsoft.com/office/drawing/2014/main" id="{1FBF22B2-4FD3-086D-8959-114AB64EC6AB}"/>
              </a:ext>
            </a:extLst>
          </p:cNvPr>
          <p:cNvSpPr txBox="1">
            <a:spLocks/>
          </p:cNvSpPr>
          <p:nvPr/>
        </p:nvSpPr>
        <p:spPr>
          <a:xfrm>
            <a:off x="565780" y="1023112"/>
            <a:ext cx="10895650" cy="64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再插入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条数据后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F89182C2-4CF7-3577-DFED-7CFCABAC8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66725"/>
            <a:ext cx="111902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Hidden Partition</a:t>
            </a:r>
            <a:r>
              <a:rPr lang="en-US" altLang="zh-CN" dirty="0"/>
              <a:t> – Test case</a:t>
            </a:r>
            <a:endParaRPr lang="en-US" altLang="zh-C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62B52-2B3C-D41D-AF6A-830A53E8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856" y="1783650"/>
            <a:ext cx="6370574" cy="3480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42F297-E9D6-FB44-4438-31EA5FD9E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0" y="1671001"/>
            <a:ext cx="3762375" cy="2019300"/>
          </a:xfrm>
          <a:prstGeom prst="rect">
            <a:avLst/>
          </a:prstGeom>
        </p:spPr>
      </p:pic>
      <p:sp>
        <p:nvSpPr>
          <p:cNvPr id="10" name="Google Shape;19;p3">
            <a:extLst>
              <a:ext uri="{FF2B5EF4-FFF2-40B4-BE49-F238E27FC236}">
                <a16:creationId xmlns:a16="http://schemas.microsoft.com/office/drawing/2014/main" id="{64B7BEFF-D3B8-494D-7892-606A6ECE252D}"/>
              </a:ext>
            </a:extLst>
          </p:cNvPr>
          <p:cNvSpPr txBox="1">
            <a:spLocks/>
          </p:cNvSpPr>
          <p:nvPr/>
        </p:nvSpPr>
        <p:spPr>
          <a:xfrm>
            <a:off x="5092060" y="1079436"/>
            <a:ext cx="4759076" cy="64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四次提交，四份</a:t>
            </a:r>
            <a:r>
              <a:rPr lang="en-US" altLang="zh-CN" sz="2000" dirty="0">
                <a:solidFill>
                  <a:schemeClr val="tx1"/>
                </a:solidFill>
              </a:rPr>
              <a:t>metadata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26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7D5F-F853-182D-0B4E-94501BE4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D3D69E00-AEB7-CBA4-AF67-76D10C2DA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Spark </a:t>
            </a:r>
            <a:r>
              <a:rPr lang="en-US" altLang="zh-CN" sz="2800" dirty="0" err="1"/>
              <a:t>Sql</a:t>
            </a:r>
            <a:r>
              <a:rPr lang="en-US" altLang="zh-CN" dirty="0"/>
              <a:t> Analyze</a:t>
            </a:r>
            <a:endParaRPr lang="en-US" altLang="zh-CN" sz="2800" dirty="0"/>
          </a:p>
        </p:txBody>
      </p:sp>
      <p:sp>
        <p:nvSpPr>
          <p:cNvPr id="7" name="Google Shape;19;p3">
            <a:extLst>
              <a:ext uri="{FF2B5EF4-FFF2-40B4-BE49-F238E27FC236}">
                <a16:creationId xmlns:a16="http://schemas.microsoft.com/office/drawing/2014/main" id="{F0C333A2-C715-FADE-1BA1-38C605945EF6}"/>
              </a:ext>
            </a:extLst>
          </p:cNvPr>
          <p:cNvSpPr txBox="1">
            <a:spLocks/>
          </p:cNvSpPr>
          <p:nvPr/>
        </p:nvSpPr>
        <p:spPr>
          <a:xfrm>
            <a:off x="954725" y="5947800"/>
            <a:ext cx="10658155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用</a:t>
            </a:r>
            <a:r>
              <a:rPr lang="en-US" altLang="zh-CN" sz="1600" dirty="0" err="1">
                <a:solidFill>
                  <a:schemeClr val="tx1"/>
                </a:solidFill>
              </a:rPr>
              <a:t>serial_num</a:t>
            </a:r>
            <a:r>
              <a:rPr lang="zh-CN" altLang="en-US" sz="1600" dirty="0">
                <a:solidFill>
                  <a:schemeClr val="tx1"/>
                </a:solidFill>
              </a:rPr>
              <a:t>过滤时，</a:t>
            </a:r>
            <a:r>
              <a:rPr lang="en-US" altLang="zh-CN" sz="1600" dirty="0">
                <a:solidFill>
                  <a:schemeClr val="tx1"/>
                </a:solidFill>
              </a:rPr>
              <a:t>iceberg</a:t>
            </a:r>
            <a:r>
              <a:rPr lang="zh-CN" altLang="en-US" sz="1600" dirty="0">
                <a:solidFill>
                  <a:schemeClr val="tx1"/>
                </a:solidFill>
              </a:rPr>
              <a:t>只扫描了</a:t>
            </a: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r>
              <a:rPr lang="zh-CN" altLang="en-US" sz="1600" dirty="0">
                <a:solidFill>
                  <a:schemeClr val="tx1"/>
                </a:solidFill>
              </a:rPr>
              <a:t>个</a:t>
            </a:r>
            <a:r>
              <a:rPr lang="en-US" altLang="zh-CN" sz="1600" dirty="0" err="1">
                <a:solidFill>
                  <a:schemeClr val="tx1"/>
                </a:solidFill>
              </a:rPr>
              <a:t>mainifest</a:t>
            </a:r>
            <a:r>
              <a:rPr lang="zh-CN" altLang="en-US" sz="1600" dirty="0">
                <a:solidFill>
                  <a:schemeClr val="tx1"/>
                </a:solidFill>
              </a:rPr>
              <a:t>文件中的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个，</a:t>
            </a:r>
            <a:r>
              <a:rPr lang="en-US" altLang="zh-CN" sz="1600" dirty="0" err="1">
                <a:solidFill>
                  <a:schemeClr val="tx1"/>
                </a:solidFill>
              </a:rPr>
              <a:t>trans_seq</a:t>
            </a:r>
            <a:r>
              <a:rPr lang="zh-CN" altLang="en-US" sz="1600" dirty="0">
                <a:solidFill>
                  <a:schemeClr val="tx1"/>
                </a:solidFill>
              </a:rPr>
              <a:t>字段过滤时，全量扫描</a:t>
            </a: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r>
              <a:rPr lang="zh-CN" altLang="en-US" sz="1600" dirty="0">
                <a:solidFill>
                  <a:schemeClr val="tx1"/>
                </a:solidFill>
              </a:rPr>
              <a:t>个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</a:rPr>
              <a:t>mainifest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Google Shape;19;p3">
            <a:extLst>
              <a:ext uri="{FF2B5EF4-FFF2-40B4-BE49-F238E27FC236}">
                <a16:creationId xmlns:a16="http://schemas.microsoft.com/office/drawing/2014/main" id="{8D660790-599B-DB4C-1793-933D15C00054}"/>
              </a:ext>
            </a:extLst>
          </p:cNvPr>
          <p:cNvSpPr txBox="1">
            <a:spLocks/>
          </p:cNvSpPr>
          <p:nvPr/>
        </p:nvSpPr>
        <p:spPr>
          <a:xfrm>
            <a:off x="6708394" y="1301912"/>
            <a:ext cx="443585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执行 </a:t>
            </a:r>
            <a:r>
              <a:rPr lang="en-US" sz="1600" dirty="0">
                <a:solidFill>
                  <a:schemeClr val="tx1"/>
                </a:solidFill>
              </a:rPr>
              <a:t>SELECT count(*) FROM </a:t>
            </a:r>
            <a:r>
              <a:rPr lang="en-US" sz="1600" dirty="0" err="1">
                <a:solidFill>
                  <a:schemeClr val="tx1"/>
                </a:solidFill>
              </a:rPr>
              <a:t>summit.attr_vals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</a:rPr>
              <a:t>WHERE </a:t>
            </a:r>
            <a:r>
              <a:rPr lang="en-US" sz="1600" dirty="0" err="1">
                <a:solidFill>
                  <a:srgbClr val="FF0000"/>
                </a:solidFill>
              </a:rPr>
              <a:t>trans_seq</a:t>
            </a:r>
            <a:r>
              <a:rPr lang="en-US" sz="1600" dirty="0">
                <a:solidFill>
                  <a:srgbClr val="FF0000"/>
                </a:solidFill>
              </a:rPr>
              <a:t> =‘ttt111'</a:t>
            </a:r>
          </a:p>
        </p:txBody>
      </p:sp>
      <p:sp>
        <p:nvSpPr>
          <p:cNvPr id="11" name="Google Shape;19;p3">
            <a:extLst>
              <a:ext uri="{FF2B5EF4-FFF2-40B4-BE49-F238E27FC236}">
                <a16:creationId xmlns:a16="http://schemas.microsoft.com/office/drawing/2014/main" id="{B0A3BA0E-88F6-EC4F-D1CB-09D522E6BF23}"/>
              </a:ext>
            </a:extLst>
          </p:cNvPr>
          <p:cNvSpPr txBox="1">
            <a:spLocks/>
          </p:cNvSpPr>
          <p:nvPr/>
        </p:nvSpPr>
        <p:spPr>
          <a:xfrm>
            <a:off x="1010668" y="1301912"/>
            <a:ext cx="5173825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执行 </a:t>
            </a:r>
            <a:r>
              <a:rPr lang="en-US" sz="1600" dirty="0">
                <a:solidFill>
                  <a:schemeClr val="tx1"/>
                </a:solidFill>
              </a:rPr>
              <a:t>SELECT count(*) FROM </a:t>
            </a:r>
            <a:r>
              <a:rPr lang="en-US" sz="1600" dirty="0" err="1">
                <a:solidFill>
                  <a:schemeClr val="tx1"/>
                </a:solidFill>
              </a:rPr>
              <a:t>summit.attr_vals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</a:rPr>
              <a:t>WHERE </a:t>
            </a:r>
            <a:r>
              <a:rPr lang="en-US" sz="1600" dirty="0" err="1">
                <a:solidFill>
                  <a:srgbClr val="FF0000"/>
                </a:solidFill>
              </a:rPr>
              <a:t>serial_num</a:t>
            </a:r>
            <a:r>
              <a:rPr lang="en-US" sz="1600" dirty="0">
                <a:solidFill>
                  <a:srgbClr val="FF0000"/>
                </a:solidFill>
              </a:rPr>
              <a:t> =‘aaa111'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729B7-C232-4C97-7564-8B70E6F2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45" y="1953812"/>
            <a:ext cx="2571750" cy="3857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3D596-11F9-1F2C-8DCD-C6790A783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96" y="1937775"/>
            <a:ext cx="25908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7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E6A4-5000-5FC3-B7F6-66D1D921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F4A52D86-0B92-48B2-4221-CABB5EFE0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Hidden Partition Write/Read Flow</a:t>
            </a:r>
            <a:endParaRPr lang="en-US" altLang="zh-CN" sz="2800" dirty="0"/>
          </a:p>
        </p:txBody>
      </p:sp>
      <p:sp>
        <p:nvSpPr>
          <p:cNvPr id="11" name="Google Shape;19;p3">
            <a:extLst>
              <a:ext uri="{FF2B5EF4-FFF2-40B4-BE49-F238E27FC236}">
                <a16:creationId xmlns:a16="http://schemas.microsoft.com/office/drawing/2014/main" id="{1BC401E0-8CFD-9083-B184-C313ACACE535}"/>
              </a:ext>
            </a:extLst>
          </p:cNvPr>
          <p:cNvSpPr txBox="1">
            <a:spLocks/>
          </p:cNvSpPr>
          <p:nvPr/>
        </p:nvSpPr>
        <p:spPr>
          <a:xfrm>
            <a:off x="622328" y="1152560"/>
            <a:ext cx="5173825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以</a:t>
            </a:r>
            <a:r>
              <a:rPr lang="en-US" sz="1600" dirty="0">
                <a:solidFill>
                  <a:schemeClr val="tx1"/>
                </a:solidFill>
              </a:rPr>
              <a:t>truncate(</a:t>
            </a:r>
            <a:r>
              <a:rPr lang="en-US" sz="1600" dirty="0" err="1">
                <a:solidFill>
                  <a:schemeClr val="tx1"/>
                </a:solidFill>
              </a:rPr>
              <a:t>serial_num</a:t>
            </a:r>
            <a:r>
              <a:rPr lang="en-US" sz="1600" dirty="0">
                <a:solidFill>
                  <a:schemeClr val="tx1"/>
                </a:solidFill>
              </a:rPr>
              <a:t>, 3)</a:t>
            </a:r>
            <a:r>
              <a:rPr lang="zh-CN" altLang="en-US" sz="1600" dirty="0">
                <a:solidFill>
                  <a:schemeClr val="tx1"/>
                </a:solidFill>
              </a:rPr>
              <a:t>分区为例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64695-D84F-D656-A14F-0E8A9DEB30BE}"/>
              </a:ext>
            </a:extLst>
          </p:cNvPr>
          <p:cNvSpPr/>
          <p:nvPr/>
        </p:nvSpPr>
        <p:spPr>
          <a:xfrm>
            <a:off x="1925325" y="1976293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28C6EA-5AD0-345A-3E02-CDA43859F0A4}"/>
              </a:ext>
            </a:extLst>
          </p:cNvPr>
          <p:cNvSpPr/>
          <p:nvPr/>
        </p:nvSpPr>
        <p:spPr>
          <a:xfrm>
            <a:off x="1925325" y="3011104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Iceberg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E89CC-B22A-5555-F776-BFF3A423F8E2}"/>
              </a:ext>
            </a:extLst>
          </p:cNvPr>
          <p:cNvSpPr/>
          <p:nvPr/>
        </p:nvSpPr>
        <p:spPr>
          <a:xfrm>
            <a:off x="1135893" y="4065549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449B61-2BFE-BC8A-5565-623EBAD09866}"/>
              </a:ext>
            </a:extLst>
          </p:cNvPr>
          <p:cNvSpPr/>
          <p:nvPr/>
        </p:nvSpPr>
        <p:spPr>
          <a:xfrm>
            <a:off x="2720549" y="4065549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metadata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C8852-888C-07C9-5C3F-5EDA192F3DFA}"/>
              </a:ext>
            </a:extLst>
          </p:cNvPr>
          <p:cNvSpPr/>
          <p:nvPr/>
        </p:nvSpPr>
        <p:spPr>
          <a:xfrm>
            <a:off x="1135893" y="5000709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parquet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EDA33F-0F60-5125-24C7-F3075D2DE20C}"/>
              </a:ext>
            </a:extLst>
          </p:cNvPr>
          <p:cNvSpPr/>
          <p:nvPr/>
        </p:nvSpPr>
        <p:spPr>
          <a:xfrm>
            <a:off x="2720549" y="5000709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Manifest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11DB1-57A4-DBB1-DEC3-81958746E98D}"/>
              </a:ext>
            </a:extLst>
          </p:cNvPr>
          <p:cNvSpPr txBox="1"/>
          <p:nvPr/>
        </p:nvSpPr>
        <p:spPr>
          <a:xfrm>
            <a:off x="599295" y="5998179"/>
            <a:ext cx="2172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增加</a:t>
            </a:r>
            <a:r>
              <a:rPr lang="en-US" altLang="zh-CN" dirty="0"/>
              <a:t>data</a:t>
            </a:r>
            <a:r>
              <a:rPr lang="zh-CN" altLang="en-US" dirty="0"/>
              <a:t>目录</a:t>
            </a:r>
            <a:r>
              <a:rPr lang="en-US" altLang="zh-CN" dirty="0" err="1"/>
              <a:t>serial_num_trunc</a:t>
            </a:r>
            <a:r>
              <a:rPr lang="en-US" altLang="zh-CN" dirty="0"/>
              <a:t>=‘</a:t>
            </a:r>
            <a:r>
              <a:rPr lang="en-US" altLang="zh-CN" dirty="0" err="1"/>
              <a:t>aaa</a:t>
            </a:r>
            <a:r>
              <a:rPr lang="en-US" altLang="zh-CN" dirty="0"/>
              <a:t>’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8FF5E-5635-06F1-33E7-3D82CB77AD25}"/>
              </a:ext>
            </a:extLst>
          </p:cNvPr>
          <p:cNvSpPr txBox="1"/>
          <p:nvPr/>
        </p:nvSpPr>
        <p:spPr>
          <a:xfrm>
            <a:off x="2740855" y="5979705"/>
            <a:ext cx="2172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写入分区信息</a:t>
            </a:r>
            <a:r>
              <a:rPr lang="en-US" altLang="zh-CN" dirty="0" err="1"/>
              <a:t>serial_num_trunc</a:t>
            </a:r>
            <a:r>
              <a:rPr lang="en-US" altLang="zh-CN" dirty="0"/>
              <a:t>=‘</a:t>
            </a:r>
            <a:r>
              <a:rPr lang="en-US" altLang="zh-CN" dirty="0" err="1"/>
              <a:t>aaa</a:t>
            </a:r>
            <a:r>
              <a:rPr lang="en-US" altLang="zh-CN" dirty="0"/>
              <a:t>’</a:t>
            </a:r>
            <a:endParaRPr lang="en-US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6F84E91-05F0-826D-44D6-0D23097BE900}"/>
              </a:ext>
            </a:extLst>
          </p:cNvPr>
          <p:cNvSpPr/>
          <p:nvPr/>
        </p:nvSpPr>
        <p:spPr>
          <a:xfrm>
            <a:off x="2277369" y="2555810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A488FC5-8CC1-2256-8051-7B0C51F912B0}"/>
              </a:ext>
            </a:extLst>
          </p:cNvPr>
          <p:cNvSpPr/>
          <p:nvPr/>
        </p:nvSpPr>
        <p:spPr>
          <a:xfrm>
            <a:off x="1487937" y="4615427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2D2A57C-B6F4-CB2A-C1C2-1880185D3C50}"/>
              </a:ext>
            </a:extLst>
          </p:cNvPr>
          <p:cNvSpPr/>
          <p:nvPr/>
        </p:nvSpPr>
        <p:spPr>
          <a:xfrm>
            <a:off x="3072593" y="4626711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E764FC4-7B6E-01AC-0602-197E178B0501}"/>
              </a:ext>
            </a:extLst>
          </p:cNvPr>
          <p:cNvSpPr/>
          <p:nvPr/>
        </p:nvSpPr>
        <p:spPr>
          <a:xfrm>
            <a:off x="1487937" y="5571432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A54EC876-16F9-5061-CFBB-947EF1EB1876}"/>
              </a:ext>
            </a:extLst>
          </p:cNvPr>
          <p:cNvSpPr/>
          <p:nvPr/>
        </p:nvSpPr>
        <p:spPr>
          <a:xfrm>
            <a:off x="3072593" y="5562195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BE9466-15FE-39D0-218D-EF0EAB12D9A4}"/>
              </a:ext>
            </a:extLst>
          </p:cNvPr>
          <p:cNvCxnSpPr>
            <a:cxnSpLocks/>
          </p:cNvCxnSpPr>
          <p:nvPr/>
        </p:nvCxnSpPr>
        <p:spPr>
          <a:xfrm flipH="1">
            <a:off x="1685716" y="3627123"/>
            <a:ext cx="678521" cy="3672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04F193F-4F93-7D90-06ED-9E37794F8F2B}"/>
              </a:ext>
            </a:extLst>
          </p:cNvPr>
          <p:cNvCxnSpPr/>
          <p:nvPr/>
        </p:nvCxnSpPr>
        <p:spPr>
          <a:xfrm>
            <a:off x="2579121" y="3635368"/>
            <a:ext cx="644348" cy="3108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A09849C-9649-CBBB-0EF5-222365D02690}"/>
              </a:ext>
            </a:extLst>
          </p:cNvPr>
          <p:cNvSpPr/>
          <p:nvPr/>
        </p:nvSpPr>
        <p:spPr>
          <a:xfrm>
            <a:off x="7043519" y="1974675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422AB-4156-D0CF-B6B9-2F0AF0DC5E56}"/>
              </a:ext>
            </a:extLst>
          </p:cNvPr>
          <p:cNvSpPr/>
          <p:nvPr/>
        </p:nvSpPr>
        <p:spPr>
          <a:xfrm>
            <a:off x="7041029" y="2981703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Iceberg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534964-F22E-0A6A-B1CA-F591CF30F4B2}"/>
              </a:ext>
            </a:extLst>
          </p:cNvPr>
          <p:cNvSpPr/>
          <p:nvPr/>
        </p:nvSpPr>
        <p:spPr>
          <a:xfrm>
            <a:off x="7116671" y="6021899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parquet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5FD438-ABB1-B3D5-09D5-7F9A31AB66A3}"/>
              </a:ext>
            </a:extLst>
          </p:cNvPr>
          <p:cNvSpPr/>
          <p:nvPr/>
        </p:nvSpPr>
        <p:spPr>
          <a:xfrm>
            <a:off x="7116671" y="5006235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Manifest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7283C8-4FC2-5C52-4F6E-129B7A90CA5F}"/>
              </a:ext>
            </a:extLst>
          </p:cNvPr>
          <p:cNvSpPr txBox="1"/>
          <p:nvPr/>
        </p:nvSpPr>
        <p:spPr>
          <a:xfrm>
            <a:off x="8341663" y="6048780"/>
            <a:ext cx="2172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读取</a:t>
            </a:r>
            <a:r>
              <a:rPr lang="en-US" altLang="zh-CN" dirty="0"/>
              <a:t>manifest</a:t>
            </a:r>
            <a:r>
              <a:rPr lang="zh-CN" altLang="en-US" dirty="0"/>
              <a:t>对应的</a:t>
            </a:r>
            <a:r>
              <a:rPr lang="en-US" altLang="zh-CN" dirty="0"/>
              <a:t>data</a:t>
            </a:r>
            <a:r>
              <a:rPr lang="zh-CN" altLang="en-US" dirty="0"/>
              <a:t>文件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369F6-F5AB-E510-0A39-FEDAB0C869EA}"/>
              </a:ext>
            </a:extLst>
          </p:cNvPr>
          <p:cNvSpPr txBox="1"/>
          <p:nvPr/>
        </p:nvSpPr>
        <p:spPr>
          <a:xfrm>
            <a:off x="8341663" y="4963664"/>
            <a:ext cx="21728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读取</a:t>
            </a:r>
            <a:r>
              <a:rPr lang="en-US" altLang="zh-CN" dirty="0"/>
              <a:t>manifest</a:t>
            </a:r>
            <a:r>
              <a:rPr lang="zh-CN" altLang="en-US" dirty="0"/>
              <a:t>找到包含</a:t>
            </a:r>
            <a:r>
              <a:rPr lang="en-US" altLang="zh-CN" dirty="0" err="1"/>
              <a:t>serial_num_trunc</a:t>
            </a:r>
            <a:r>
              <a:rPr lang="en-US" altLang="zh-CN" dirty="0"/>
              <a:t>=‘</a:t>
            </a:r>
            <a:r>
              <a:rPr lang="en-US" altLang="zh-CN" dirty="0" err="1"/>
              <a:t>aaa</a:t>
            </a:r>
            <a:r>
              <a:rPr lang="en-US" altLang="zh-CN" dirty="0"/>
              <a:t>’</a:t>
            </a:r>
            <a:r>
              <a:rPr lang="zh-CN" altLang="en-US" dirty="0"/>
              <a:t>的</a:t>
            </a:r>
            <a:r>
              <a:rPr lang="en-US" altLang="zh-CN" dirty="0"/>
              <a:t>data</a:t>
            </a:r>
            <a:r>
              <a:rPr lang="zh-CN" altLang="en-US" dirty="0"/>
              <a:t>文件</a:t>
            </a:r>
            <a:endParaRPr lang="en-US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A80CF498-C208-E47D-2586-C01CAD821F6D}"/>
              </a:ext>
            </a:extLst>
          </p:cNvPr>
          <p:cNvSpPr/>
          <p:nvPr/>
        </p:nvSpPr>
        <p:spPr>
          <a:xfrm>
            <a:off x="7393073" y="2536263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93D6ED2-A0EA-EF1F-ADF9-78E682CA701A}"/>
              </a:ext>
            </a:extLst>
          </p:cNvPr>
          <p:cNvSpPr/>
          <p:nvPr/>
        </p:nvSpPr>
        <p:spPr>
          <a:xfrm>
            <a:off x="7395563" y="5600133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C30A6B57-63A6-755F-5A6D-F02A834D01CF}"/>
              </a:ext>
            </a:extLst>
          </p:cNvPr>
          <p:cNvSpPr/>
          <p:nvPr/>
        </p:nvSpPr>
        <p:spPr>
          <a:xfrm>
            <a:off x="7395563" y="3571120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C1522-33A9-60C4-F61C-EBEE578B556D}"/>
              </a:ext>
            </a:extLst>
          </p:cNvPr>
          <p:cNvSpPr/>
          <p:nvPr/>
        </p:nvSpPr>
        <p:spPr>
          <a:xfrm>
            <a:off x="7116671" y="3999207"/>
            <a:ext cx="1005840" cy="499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Snapshot</a:t>
            </a:r>
            <a:endParaRPr lang="en-US" dirty="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0558A776-0A3F-BFB1-DB08-9F26D018485D}"/>
              </a:ext>
            </a:extLst>
          </p:cNvPr>
          <p:cNvSpPr/>
          <p:nvPr/>
        </p:nvSpPr>
        <p:spPr>
          <a:xfrm>
            <a:off x="7395563" y="4580842"/>
            <a:ext cx="301752" cy="3555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4F1708-F88A-9A7A-6074-94509DDF45A9}"/>
              </a:ext>
            </a:extLst>
          </p:cNvPr>
          <p:cNvSpPr txBox="1"/>
          <p:nvPr/>
        </p:nvSpPr>
        <p:spPr>
          <a:xfrm>
            <a:off x="8341662" y="4030571"/>
            <a:ext cx="2172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读取最新的</a:t>
            </a:r>
            <a:r>
              <a:rPr lang="en-US" altLang="zh-CN" dirty="0"/>
              <a:t>snapshot</a:t>
            </a:r>
            <a:r>
              <a:rPr lang="zh-CN" altLang="en-US" dirty="0"/>
              <a:t>，找到对应的</a:t>
            </a:r>
            <a:r>
              <a:rPr lang="en-US" altLang="zh-CN" dirty="0"/>
              <a:t>manifest</a:t>
            </a:r>
            <a:endParaRPr lang="en-US" dirty="0"/>
          </a:p>
        </p:txBody>
      </p:sp>
      <p:sp>
        <p:nvSpPr>
          <p:cNvPr id="47" name="Google Shape;19;p3">
            <a:extLst>
              <a:ext uri="{FF2B5EF4-FFF2-40B4-BE49-F238E27FC236}">
                <a16:creationId xmlns:a16="http://schemas.microsoft.com/office/drawing/2014/main" id="{32C7DE0D-3C4D-DBC1-4159-1DA746CFA80E}"/>
              </a:ext>
            </a:extLst>
          </p:cNvPr>
          <p:cNvSpPr txBox="1">
            <a:spLocks/>
          </p:cNvSpPr>
          <p:nvPr/>
        </p:nvSpPr>
        <p:spPr>
          <a:xfrm>
            <a:off x="5716523" y="2792645"/>
            <a:ext cx="100584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3200" b="1" dirty="0">
                <a:solidFill>
                  <a:srgbClr val="FF0000"/>
                </a:solidFill>
              </a:rPr>
              <a:t>读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8" name="Google Shape;19;p3">
            <a:extLst>
              <a:ext uri="{FF2B5EF4-FFF2-40B4-BE49-F238E27FC236}">
                <a16:creationId xmlns:a16="http://schemas.microsoft.com/office/drawing/2014/main" id="{7BF3477A-43FB-97AB-75AC-9B443661760C}"/>
              </a:ext>
            </a:extLst>
          </p:cNvPr>
          <p:cNvSpPr txBox="1">
            <a:spLocks/>
          </p:cNvSpPr>
          <p:nvPr/>
        </p:nvSpPr>
        <p:spPr>
          <a:xfrm>
            <a:off x="751695" y="2668144"/>
            <a:ext cx="100584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3200" b="1" dirty="0">
                <a:solidFill>
                  <a:srgbClr val="FF0000"/>
                </a:solidFill>
              </a:rPr>
              <a:t>写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786973"/>
      </p:ext>
    </p:extLst>
  </p:cSld>
  <p:clrMapOvr>
    <a:masterClrMapping/>
  </p:clrMapOvr>
</p:sld>
</file>

<file path=ppt/theme/theme1.xml><?xml version="1.0" encoding="utf-8"?>
<a:theme xmlns:a="http://schemas.openxmlformats.org/drawingml/2006/main" name="1_Seagate_Template_2017">
  <a:themeElements>
    <a:clrScheme name="New Seagate Theme 2">
      <a:dk1>
        <a:srgbClr val="000000"/>
      </a:dk1>
      <a:lt1>
        <a:srgbClr val="FFFFFF"/>
      </a:lt1>
      <a:dk2>
        <a:srgbClr val="78777A"/>
      </a:dk2>
      <a:lt2>
        <a:srgbClr val="FFFFFF"/>
      </a:lt2>
      <a:accent1>
        <a:srgbClr val="6EBE49"/>
      </a:accent1>
      <a:accent2>
        <a:srgbClr val="868589"/>
      </a:accent2>
      <a:accent3>
        <a:srgbClr val="000000"/>
      </a:accent3>
      <a:accent4>
        <a:srgbClr val="F8BE15"/>
      </a:accent4>
      <a:accent5>
        <a:srgbClr val="00A1DD"/>
      </a:accent5>
      <a:accent6>
        <a:srgbClr val="008F98"/>
      </a:accent6>
      <a:hlink>
        <a:srgbClr val="6EBE4A"/>
      </a:hlink>
      <a:folHlink>
        <a:srgbClr val="868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6e366eb-86f1-4645-85a7-f29555b26fee}" enabled="1" method="Standard" siteId="{d466216a-c643-434a-9c2e-057448c17cb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47751</TotalTime>
  <Words>669</Words>
  <Application>Microsoft Office PowerPoint</Application>
  <PresentationFormat>Custom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1_Seagate_Template_2017</vt:lpstr>
      <vt:lpstr>2026-01-27</vt:lpstr>
      <vt:lpstr>Iceberg Hidden Partition</vt:lpstr>
      <vt:lpstr>Iceberg Hidden Partition</vt:lpstr>
      <vt:lpstr>Iceberg Hidden Partition – Test case</vt:lpstr>
      <vt:lpstr>Iceberg Hidden Partition – Test case</vt:lpstr>
      <vt:lpstr>Iceberg Hidden Partition – Test case</vt:lpstr>
      <vt:lpstr>Iceberg Hidden Partition – Test case</vt:lpstr>
      <vt:lpstr>Iceberg Hidden Partition – Test case</vt:lpstr>
      <vt:lpstr>Spark Sql Analyze</vt:lpstr>
      <vt:lpstr>Hidden Partition Write/Read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ZhenYang Dong</cp:lastModifiedBy>
  <cp:revision>55</cp:revision>
  <dcterms:modified xsi:type="dcterms:W3CDTF">2026-01-28T01:32:36Z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1_Seagate_Template_2017:3</vt:lpwstr>
  </property>
  <property fmtid="{D5CDD505-2E9C-101B-9397-08002B2CF9AE}" pid="3" name="ClassificationContentMarkingFooterText">
    <vt:lpwstr>Seagate Internal</vt:lpwstr>
  </property>
</Properties>
</file>