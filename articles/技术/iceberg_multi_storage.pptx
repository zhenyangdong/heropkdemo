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2" r:id="rId1"/>
  </p:sldMasterIdLst>
  <p:notesMasterIdLst>
    <p:notesMasterId r:id="rId16"/>
  </p:notesMasterIdLst>
  <p:sldIdLst>
    <p:sldId id="271" r:id="rId2"/>
    <p:sldId id="315" r:id="rId3"/>
    <p:sldId id="332" r:id="rId4"/>
    <p:sldId id="333" r:id="rId5"/>
    <p:sldId id="334" r:id="rId6"/>
    <p:sldId id="335" r:id="rId7"/>
    <p:sldId id="327" r:id="rId8"/>
    <p:sldId id="316" r:id="rId9"/>
    <p:sldId id="331" r:id="rId10"/>
    <p:sldId id="319" r:id="rId11"/>
    <p:sldId id="330" r:id="rId12"/>
    <p:sldId id="329" r:id="rId13"/>
    <p:sldId id="326" r:id="rId14"/>
    <p:sldId id="328" r:id="rId15"/>
  </p:sldIdLst>
  <p:sldSz cx="12188825" cy="6858000"/>
  <p:notesSz cx="6985000" cy="92837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39">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76E658-F341-08F6-5EF3-5D66C8A1B314}" v="2" dt="2020-04-16T08:33:03.1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36"/>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26833" cy="464185"/>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56550" y="0"/>
            <a:ext cx="3026833" cy="464185"/>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00050" y="696913"/>
            <a:ext cx="6184900" cy="3481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98500" y="4409758"/>
            <a:ext cx="5588000" cy="4177665"/>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599"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599"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599"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599"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599"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599"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599"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599"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599"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17904"/>
            <a:ext cx="3026833" cy="464185"/>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399"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56550" y="8817904"/>
            <a:ext cx="3026833" cy="464185"/>
          </a:xfrm>
          <a:prstGeom prst="rect">
            <a:avLst/>
          </a:prstGeom>
          <a:noFill/>
          <a:ln>
            <a:noFill/>
          </a:ln>
        </p:spPr>
        <p:txBody>
          <a:bodyPr spcFirstLastPara="1" wrap="square" lIns="92950" tIns="46475" rIns="92950" bIns="4647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478607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_Sub Heading_Body">
  <p:cSld name="Custom Layout 1_1">
    <p:spTree>
      <p:nvGrpSpPr>
        <p:cNvPr id="1" name="Shape 17"/>
        <p:cNvGrpSpPr/>
        <p:nvPr/>
      </p:nvGrpSpPr>
      <p:grpSpPr>
        <a:xfrm>
          <a:off x="0" y="0"/>
          <a:ext cx="0" cy="0"/>
          <a:chOff x="0" y="0"/>
          <a:chExt cx="0" cy="0"/>
        </a:xfrm>
      </p:grpSpPr>
      <p:sp>
        <p:nvSpPr>
          <p:cNvPr id="18" name="Google Shape;18;p3"/>
          <p:cNvSpPr txBox="1"/>
          <p:nvPr/>
        </p:nvSpPr>
        <p:spPr>
          <a:xfrm>
            <a:off x="9966300" y="6532000"/>
            <a:ext cx="1048800" cy="2154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600"/>
              <a:buFont typeface="Arial"/>
              <a:buNone/>
            </a:pPr>
            <a:r>
              <a:rPr lang="en-US" sz="600" b="0" i="0" u="none" strike="noStrike" cap="none">
                <a:solidFill>
                  <a:srgbClr val="000000"/>
                </a:solidFill>
                <a:latin typeface="Arial"/>
                <a:ea typeface="Arial"/>
                <a:cs typeface="Arial"/>
                <a:sym typeface="Arial"/>
              </a:rPr>
              <a:t>Seagate Internal</a:t>
            </a:r>
            <a:endParaRPr sz="600" b="0" i="0" u="none" strike="noStrike" cap="none">
              <a:solidFill>
                <a:srgbClr val="000000"/>
              </a:solidFill>
              <a:latin typeface="Arial"/>
              <a:ea typeface="Arial"/>
              <a:cs typeface="Arial"/>
              <a:sym typeface="Arial"/>
            </a:endParaRPr>
          </a:p>
        </p:txBody>
      </p:sp>
      <p:sp>
        <p:nvSpPr>
          <p:cNvPr id="19" name="Google Shape;19;p3"/>
          <p:cNvSpPr txBox="1">
            <a:spLocks noGrp="1"/>
          </p:cNvSpPr>
          <p:nvPr>
            <p:ph type="title"/>
          </p:nvPr>
        </p:nvSpPr>
        <p:spPr>
          <a:xfrm>
            <a:off x="533250" y="467150"/>
            <a:ext cx="11190600" cy="4995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0" name="Google Shape;20;p3"/>
          <p:cNvSpPr txBox="1">
            <a:spLocks noGrp="1"/>
          </p:cNvSpPr>
          <p:nvPr>
            <p:ph type="subTitle" idx="1"/>
          </p:nvPr>
        </p:nvSpPr>
        <p:spPr>
          <a:xfrm>
            <a:off x="546175" y="945550"/>
            <a:ext cx="11177700" cy="4275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21" name="Google Shape;21;p3" descr="sgicon_transparent.png"/>
          <p:cNvPicPr preferRelativeResize="0"/>
          <p:nvPr/>
        </p:nvPicPr>
        <p:blipFill rotWithShape="1">
          <a:blip r:embed="rId2">
            <a:alphaModFix/>
          </a:blip>
          <a:srcRect/>
          <a:stretch/>
        </p:blipFill>
        <p:spPr>
          <a:xfrm>
            <a:off x="11723782" y="6481337"/>
            <a:ext cx="324300" cy="274800"/>
          </a:xfrm>
          <a:prstGeom prst="rect">
            <a:avLst/>
          </a:prstGeom>
          <a:noFill/>
          <a:ln>
            <a:noFill/>
          </a:ln>
        </p:spPr>
      </p:pic>
      <p:sp>
        <p:nvSpPr>
          <p:cNvPr id="22" name="Google Shape;22;p3"/>
          <p:cNvSpPr txBox="1"/>
          <p:nvPr/>
        </p:nvSpPr>
        <p:spPr>
          <a:xfrm>
            <a:off x="11096676" y="6506275"/>
            <a:ext cx="449400" cy="215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a:t>
            </a:fld>
            <a:endParaRPr sz="800" b="0" i="0" u="none" strike="noStrike" cap="none">
              <a:solidFill>
                <a:srgbClr val="000000"/>
              </a:solidFill>
              <a:latin typeface="Arial"/>
              <a:ea typeface="Arial"/>
              <a:cs typeface="Arial"/>
              <a:sym typeface="Arial"/>
            </a:endParaRPr>
          </a:p>
        </p:txBody>
      </p:sp>
      <p:cxnSp>
        <p:nvCxnSpPr>
          <p:cNvPr id="23" name="Google Shape;23;p3"/>
          <p:cNvCxnSpPr/>
          <p:nvPr/>
        </p:nvCxnSpPr>
        <p:spPr>
          <a:xfrm>
            <a:off x="11546137" y="6542001"/>
            <a:ext cx="0" cy="195300"/>
          </a:xfrm>
          <a:prstGeom prst="straightConnector1">
            <a:avLst/>
          </a:prstGeom>
          <a:noFill/>
          <a:ln w="12700" cap="flat" cmpd="sng">
            <a:solidFill>
              <a:srgbClr val="E6E6E6"/>
            </a:solidFill>
            <a:prstDash val="solid"/>
            <a:round/>
            <a:headEnd type="none" w="sm" len="sm"/>
            <a:tailEnd type="none" w="sm" len="sm"/>
          </a:ln>
        </p:spPr>
      </p:cxnSp>
      <p:cxnSp>
        <p:nvCxnSpPr>
          <p:cNvPr id="24" name="Google Shape;24;p3"/>
          <p:cNvCxnSpPr/>
          <p:nvPr/>
        </p:nvCxnSpPr>
        <p:spPr>
          <a:xfrm>
            <a:off x="11096687" y="6542051"/>
            <a:ext cx="0" cy="195300"/>
          </a:xfrm>
          <a:prstGeom prst="straightConnector1">
            <a:avLst/>
          </a:prstGeom>
          <a:noFill/>
          <a:ln w="12700" cap="flat" cmpd="sng">
            <a:solidFill>
              <a:srgbClr val="E6E6E6"/>
            </a:solidFill>
            <a:prstDash val="solid"/>
            <a:round/>
            <a:headEnd type="none" w="sm" len="sm"/>
            <a:tailEnd type="none" w="sm" len="sm"/>
          </a:ln>
        </p:spPr>
      </p:cxnSp>
      <p:sp>
        <p:nvSpPr>
          <p:cNvPr id="25" name="Google Shape;25;p3"/>
          <p:cNvSpPr txBox="1">
            <a:spLocks noGrp="1"/>
          </p:cNvSpPr>
          <p:nvPr>
            <p:ph type="body" idx="2"/>
          </p:nvPr>
        </p:nvSpPr>
        <p:spPr>
          <a:xfrm>
            <a:off x="546175" y="2016675"/>
            <a:ext cx="11190600" cy="41946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20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20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20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20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20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20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20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20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2000" b="0" i="0" u="none" strike="noStrike" cap="none">
                <a:solidFill>
                  <a:srgbClr val="000000"/>
                </a:solidFill>
                <a:latin typeface="Arial"/>
                <a:ea typeface="Arial"/>
                <a:cs typeface="Arial"/>
                <a:sym typeface="Arial"/>
              </a:defRPr>
            </a:lvl9pPr>
          </a:lstStyle>
          <a:p>
            <a:endParaRPr/>
          </a:p>
        </p:txBody>
      </p:sp>
    </p:spTree>
  </p:cSld>
  <p:clrMapOvr>
    <a:masterClrMapping/>
  </p:clrMapOvr>
  <p:transition spd="med">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Body_Only">
  <p:cSld name="Custom Layout 1_1_1">
    <p:spTree>
      <p:nvGrpSpPr>
        <p:cNvPr id="1" name="Shape 26"/>
        <p:cNvGrpSpPr/>
        <p:nvPr/>
      </p:nvGrpSpPr>
      <p:grpSpPr>
        <a:xfrm>
          <a:off x="0" y="0"/>
          <a:ext cx="0" cy="0"/>
          <a:chOff x="0" y="0"/>
          <a:chExt cx="0" cy="0"/>
        </a:xfrm>
      </p:grpSpPr>
      <p:sp>
        <p:nvSpPr>
          <p:cNvPr id="27" name="Google Shape;27;p4"/>
          <p:cNvSpPr txBox="1">
            <a:spLocks noGrp="1"/>
          </p:cNvSpPr>
          <p:nvPr>
            <p:ph type="body" idx="1"/>
          </p:nvPr>
        </p:nvSpPr>
        <p:spPr>
          <a:xfrm>
            <a:off x="533250" y="1961475"/>
            <a:ext cx="11190600" cy="4451100"/>
          </a:xfrm>
          <a:prstGeom prst="rect">
            <a:avLst/>
          </a:prstGeom>
          <a:noFill/>
          <a:ln>
            <a:noFill/>
          </a:ln>
        </p:spPr>
        <p:txBody>
          <a:bodyPr spcFirstLastPara="1" wrap="square" lIns="91425" tIns="91425" rIns="91425" bIns="91425" anchor="t" anchorCtr="0">
            <a:noAutofit/>
          </a:bodyPr>
          <a:lstStyle>
            <a:lvl1pPr marL="457200" marR="0" lvl="0" indent="-355600" algn="l" rtl="0">
              <a:lnSpc>
                <a:spcPct val="100000"/>
              </a:lnSpc>
              <a:spcBef>
                <a:spcPts val="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1pPr>
            <a:lvl2pPr marL="914400" marR="0" lvl="1" indent="-355600" algn="l" rtl="0">
              <a:lnSpc>
                <a:spcPct val="100000"/>
              </a:lnSpc>
              <a:spcBef>
                <a:spcPts val="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2pPr>
            <a:lvl3pPr marL="1371600" marR="0" lvl="2" indent="-355600" algn="l" rtl="0">
              <a:lnSpc>
                <a:spcPct val="100000"/>
              </a:lnSpc>
              <a:spcBef>
                <a:spcPts val="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3pPr>
            <a:lvl4pPr marL="1828800" marR="0" lvl="3" indent="-355600" algn="l" rtl="0">
              <a:lnSpc>
                <a:spcPct val="100000"/>
              </a:lnSpc>
              <a:spcBef>
                <a:spcPts val="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4pPr>
            <a:lvl5pPr marL="2286000" marR="0" lvl="4" indent="-355600" algn="l" rtl="0">
              <a:lnSpc>
                <a:spcPct val="100000"/>
              </a:lnSpc>
              <a:spcBef>
                <a:spcPts val="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5pPr>
            <a:lvl6pPr marL="2743200" marR="0" lvl="5" indent="-355600" algn="l" rtl="0">
              <a:lnSpc>
                <a:spcPct val="100000"/>
              </a:lnSpc>
              <a:spcBef>
                <a:spcPts val="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6pPr>
            <a:lvl7pPr marL="3200400" marR="0" lvl="6" indent="-355600" algn="l" rtl="0">
              <a:lnSpc>
                <a:spcPct val="100000"/>
              </a:lnSpc>
              <a:spcBef>
                <a:spcPts val="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7pPr>
            <a:lvl8pPr marL="3657600" marR="0" lvl="7" indent="-355600" algn="l" rtl="0">
              <a:lnSpc>
                <a:spcPct val="100000"/>
              </a:lnSpc>
              <a:spcBef>
                <a:spcPts val="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8pPr>
            <a:lvl9pPr marL="4114800" marR="0" lvl="8" indent="-355600" algn="l" rtl="0">
              <a:lnSpc>
                <a:spcPct val="100000"/>
              </a:lnSpc>
              <a:spcBef>
                <a:spcPts val="0"/>
              </a:spcBef>
              <a:spcAft>
                <a:spcPts val="0"/>
              </a:spcAft>
              <a:buClr>
                <a:srgbClr val="000000"/>
              </a:buClr>
              <a:buSzPts val="2000"/>
              <a:buFont typeface="Arial"/>
              <a:buChar char="■"/>
              <a:defRPr sz="2000" b="0" i="0" u="none" strike="noStrike" cap="none">
                <a:solidFill>
                  <a:srgbClr val="000000"/>
                </a:solidFill>
                <a:latin typeface="Arial"/>
                <a:ea typeface="Arial"/>
                <a:cs typeface="Arial"/>
                <a:sym typeface="Arial"/>
              </a:defRPr>
            </a:lvl9pPr>
          </a:lstStyle>
          <a:p>
            <a:endParaRPr/>
          </a:p>
        </p:txBody>
      </p:sp>
      <p:sp>
        <p:nvSpPr>
          <p:cNvPr id="28" name="Google Shape;28;p4"/>
          <p:cNvSpPr txBox="1">
            <a:spLocks noGrp="1"/>
          </p:cNvSpPr>
          <p:nvPr>
            <p:ph type="title"/>
          </p:nvPr>
        </p:nvSpPr>
        <p:spPr>
          <a:xfrm>
            <a:off x="533250" y="467150"/>
            <a:ext cx="11190600" cy="4995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pic>
        <p:nvPicPr>
          <p:cNvPr id="29" name="Google Shape;29;p4" descr="sgicon_transparent.png"/>
          <p:cNvPicPr preferRelativeResize="0"/>
          <p:nvPr/>
        </p:nvPicPr>
        <p:blipFill rotWithShape="1">
          <a:blip r:embed="rId2">
            <a:alphaModFix/>
          </a:blip>
          <a:srcRect/>
          <a:stretch/>
        </p:blipFill>
        <p:spPr>
          <a:xfrm>
            <a:off x="11723782" y="6481337"/>
            <a:ext cx="324300" cy="274800"/>
          </a:xfrm>
          <a:prstGeom prst="rect">
            <a:avLst/>
          </a:prstGeom>
          <a:noFill/>
          <a:ln>
            <a:noFill/>
          </a:ln>
        </p:spPr>
      </p:pic>
      <p:sp>
        <p:nvSpPr>
          <p:cNvPr id="30" name="Google Shape;30;p4"/>
          <p:cNvSpPr txBox="1"/>
          <p:nvPr/>
        </p:nvSpPr>
        <p:spPr>
          <a:xfrm>
            <a:off x="11096676" y="6506275"/>
            <a:ext cx="449400" cy="215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000000"/>
                </a:solidFill>
                <a:latin typeface="Arial"/>
                <a:ea typeface="Arial"/>
                <a:cs typeface="Arial"/>
                <a:sym typeface="Arial"/>
              </a:rPr>
              <a:t>‹#›</a:t>
            </a:fld>
            <a:endParaRPr sz="800" b="0" i="0" u="none" strike="noStrike" cap="none">
              <a:solidFill>
                <a:srgbClr val="000000"/>
              </a:solidFill>
              <a:latin typeface="Arial"/>
              <a:ea typeface="Arial"/>
              <a:cs typeface="Arial"/>
              <a:sym typeface="Arial"/>
            </a:endParaRPr>
          </a:p>
        </p:txBody>
      </p:sp>
      <p:cxnSp>
        <p:nvCxnSpPr>
          <p:cNvPr id="31" name="Google Shape;31;p4"/>
          <p:cNvCxnSpPr/>
          <p:nvPr/>
        </p:nvCxnSpPr>
        <p:spPr>
          <a:xfrm>
            <a:off x="11546137" y="6542001"/>
            <a:ext cx="0" cy="195300"/>
          </a:xfrm>
          <a:prstGeom prst="straightConnector1">
            <a:avLst/>
          </a:prstGeom>
          <a:noFill/>
          <a:ln w="12700" cap="flat" cmpd="sng">
            <a:solidFill>
              <a:srgbClr val="E6E6E6"/>
            </a:solidFill>
            <a:prstDash val="solid"/>
            <a:round/>
            <a:headEnd type="none" w="sm" len="sm"/>
            <a:tailEnd type="none" w="sm" len="sm"/>
          </a:ln>
        </p:spPr>
      </p:cxnSp>
      <p:cxnSp>
        <p:nvCxnSpPr>
          <p:cNvPr id="32" name="Google Shape;32;p4"/>
          <p:cNvCxnSpPr/>
          <p:nvPr/>
        </p:nvCxnSpPr>
        <p:spPr>
          <a:xfrm>
            <a:off x="11096687" y="6542051"/>
            <a:ext cx="0" cy="195300"/>
          </a:xfrm>
          <a:prstGeom prst="straightConnector1">
            <a:avLst/>
          </a:prstGeom>
          <a:noFill/>
          <a:ln w="12700" cap="flat" cmpd="sng">
            <a:solidFill>
              <a:srgbClr val="E6E6E6"/>
            </a:solidFill>
            <a:prstDash val="solid"/>
            <a:round/>
            <a:headEnd type="none" w="sm" len="sm"/>
            <a:tailEnd type="none" w="sm" len="sm"/>
          </a:ln>
        </p:spPr>
      </p:cxnSp>
      <p:sp>
        <p:nvSpPr>
          <p:cNvPr id="33" name="Google Shape;33;p4"/>
          <p:cNvSpPr txBox="1"/>
          <p:nvPr/>
        </p:nvSpPr>
        <p:spPr>
          <a:xfrm>
            <a:off x="9964725" y="6532000"/>
            <a:ext cx="1048800" cy="2154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600"/>
              <a:buFont typeface="Arial"/>
              <a:buNone/>
            </a:pPr>
            <a:r>
              <a:rPr lang="en-US" sz="600" b="0" i="0" u="none" strike="noStrike" cap="none">
                <a:solidFill>
                  <a:schemeClr val="dk1"/>
                </a:solidFill>
                <a:latin typeface="Arial"/>
                <a:ea typeface="Arial"/>
                <a:cs typeface="Arial"/>
                <a:sym typeface="Arial"/>
              </a:rPr>
              <a:t>Seagate Internal</a:t>
            </a:r>
            <a:endParaRPr sz="600" b="0" i="0" u="none" strike="noStrike" cap="none">
              <a:solidFill>
                <a:srgbClr val="000000"/>
              </a:solidFill>
              <a:latin typeface="Arial"/>
              <a:ea typeface="Arial"/>
              <a:cs typeface="Arial"/>
              <a:sym typeface="Arial"/>
            </a:endParaRPr>
          </a:p>
        </p:txBody>
      </p:sp>
    </p:spTree>
  </p:cSld>
  <p:clrMapOvr>
    <a:masterClrMapping/>
  </p:clrMapOvr>
  <p:transition spd="med">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533250" y="467150"/>
            <a:ext cx="11190600" cy="4995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 name="TextBox 2">
            <a:extLst>
              <a:ext uri="{FF2B5EF4-FFF2-40B4-BE49-F238E27FC236}">
                <a16:creationId xmlns:a16="http://schemas.microsoft.com/office/drawing/2014/main" id="{C455D373-32A1-D7C9-0B8F-17742CFE3071}"/>
              </a:ext>
            </a:extLst>
          </p:cNvPr>
          <p:cNvSpPr txBox="1"/>
          <p:nvPr userDrawn="1">
            <p:extLst>
              <p:ext uri="{1162E1C5-73C7-4A58-AE30-91384D911F3F}">
                <p184:classification xmlns:p184="http://schemas.microsoft.com/office/powerpoint/2018/4/main" val="ftr"/>
              </p:ext>
            </p:extLst>
          </p:nvPr>
        </p:nvSpPr>
        <p:spPr>
          <a:xfrm>
            <a:off x="5672900" y="6705600"/>
            <a:ext cx="871537" cy="152400"/>
          </a:xfrm>
          <a:prstGeom prst="rect">
            <a:avLst/>
          </a:prstGeom>
        </p:spPr>
        <p:txBody>
          <a:bodyPr horzOverflow="overflow" lIns="0" tIns="0" rIns="0" bIns="0">
            <a:spAutoFit/>
          </a:bodyPr>
          <a:lstStyle/>
          <a:p>
            <a:pPr algn="l"/>
            <a:r>
              <a:rPr lang="en-US" sz="1000">
                <a:solidFill>
                  <a:srgbClr val="008000"/>
                </a:solidFill>
                <a:latin typeface="Calibri" panose="020F0502020204030204" pitchFamily="34" charset="0"/>
                <a:cs typeface="Calibri" panose="020F0502020204030204" pitchFamily="34" charset="0"/>
              </a:rPr>
              <a:t>Seagate Internal</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transition spd="med">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3"/>
          <p:cNvSpPr txBox="1">
            <a:spLocks noGrp="1"/>
          </p:cNvSpPr>
          <p:nvPr>
            <p:ph type="title"/>
          </p:nvPr>
        </p:nvSpPr>
        <p:spPr>
          <a:xfrm>
            <a:off x="4466271" y="2929500"/>
            <a:ext cx="2859946" cy="4995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sz="3600" dirty="0">
                <a:solidFill>
                  <a:schemeClr val="tx1"/>
                </a:solidFill>
              </a:rPr>
              <a:t>2026-02-05</a:t>
            </a:r>
            <a:endParaRPr sz="36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1810B-D071-E2BF-A82E-B105F4B7F552}"/>
            </a:ext>
          </a:extLst>
        </p:cNvPr>
        <p:cNvGrpSpPr/>
        <p:nvPr/>
      </p:nvGrpSpPr>
      <p:grpSpPr>
        <a:xfrm>
          <a:off x="0" y="0"/>
          <a:ext cx="0" cy="0"/>
          <a:chOff x="0" y="0"/>
          <a:chExt cx="0" cy="0"/>
        </a:xfrm>
      </p:grpSpPr>
      <p:sp>
        <p:nvSpPr>
          <p:cNvPr id="19" name="Google Shape;19;p3">
            <a:extLst>
              <a:ext uri="{FF2B5EF4-FFF2-40B4-BE49-F238E27FC236}">
                <a16:creationId xmlns:a16="http://schemas.microsoft.com/office/drawing/2014/main" id="{C9C083A3-5DDB-6684-7CDD-79D743FA38FD}"/>
              </a:ext>
            </a:extLst>
          </p:cNvPr>
          <p:cNvSpPr txBox="1">
            <a:spLocks noGrp="1"/>
          </p:cNvSpPr>
          <p:nvPr>
            <p:ph type="title"/>
          </p:nvPr>
        </p:nvSpPr>
        <p:spPr>
          <a:xfrm>
            <a:off x="533250" y="467150"/>
            <a:ext cx="11190600" cy="4995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sz="2800" dirty="0"/>
              <a:t>Catalog Support S3 and </a:t>
            </a:r>
            <a:r>
              <a:rPr lang="en-US" altLang="zh-CN" sz="2800" dirty="0" err="1"/>
              <a:t>Hdfs</a:t>
            </a:r>
            <a:endParaRPr lang="en-US" altLang="zh-CN" sz="2800" dirty="0"/>
          </a:p>
        </p:txBody>
      </p:sp>
      <p:sp>
        <p:nvSpPr>
          <p:cNvPr id="2" name="Google Shape;19;p3">
            <a:extLst>
              <a:ext uri="{FF2B5EF4-FFF2-40B4-BE49-F238E27FC236}">
                <a16:creationId xmlns:a16="http://schemas.microsoft.com/office/drawing/2014/main" id="{15486BC8-1B33-94E4-A918-8773C031A83C}"/>
              </a:ext>
            </a:extLst>
          </p:cNvPr>
          <p:cNvSpPr txBox="1">
            <a:spLocks/>
          </p:cNvSpPr>
          <p:nvPr/>
        </p:nvSpPr>
        <p:spPr>
          <a:xfrm>
            <a:off x="606402" y="1030658"/>
            <a:ext cx="11416858" cy="147479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zh-CN" altLang="en-US" sz="2000" dirty="0">
                <a:solidFill>
                  <a:schemeClr val="tx1"/>
                </a:solidFill>
              </a:rPr>
              <a:t>目标：将</a:t>
            </a:r>
            <a:r>
              <a:rPr lang="en-US" altLang="zh-CN" sz="2000" dirty="0">
                <a:solidFill>
                  <a:schemeClr val="tx1"/>
                </a:solidFill>
              </a:rPr>
              <a:t>iceberg</a:t>
            </a:r>
            <a:r>
              <a:rPr lang="zh-CN" altLang="en-US" sz="2000" dirty="0">
                <a:solidFill>
                  <a:schemeClr val="tx1"/>
                </a:solidFill>
              </a:rPr>
              <a:t>表的</a:t>
            </a:r>
            <a:r>
              <a:rPr lang="en-US" altLang="zh-CN" sz="2000" dirty="0">
                <a:solidFill>
                  <a:schemeClr val="tx1"/>
                </a:solidFill>
              </a:rPr>
              <a:t>metadata</a:t>
            </a:r>
            <a:r>
              <a:rPr lang="zh-CN" altLang="en-US" sz="2000" dirty="0">
                <a:solidFill>
                  <a:schemeClr val="tx1"/>
                </a:solidFill>
              </a:rPr>
              <a:t>和</a:t>
            </a:r>
            <a:r>
              <a:rPr lang="en-US" altLang="zh-CN" sz="2000" dirty="0">
                <a:solidFill>
                  <a:schemeClr val="tx1"/>
                </a:solidFill>
              </a:rPr>
              <a:t>data</a:t>
            </a:r>
            <a:r>
              <a:rPr lang="zh-CN" altLang="en-US" sz="2000" dirty="0">
                <a:solidFill>
                  <a:schemeClr val="tx1"/>
                </a:solidFill>
              </a:rPr>
              <a:t>分别写入</a:t>
            </a:r>
            <a:r>
              <a:rPr lang="en-US" altLang="zh-CN" sz="2000" dirty="0">
                <a:solidFill>
                  <a:schemeClr val="tx1"/>
                </a:solidFill>
              </a:rPr>
              <a:t>s3</a:t>
            </a:r>
            <a:r>
              <a:rPr lang="zh-CN" altLang="en-US" sz="2000" dirty="0">
                <a:solidFill>
                  <a:schemeClr val="tx1"/>
                </a:solidFill>
              </a:rPr>
              <a:t>和</a:t>
            </a:r>
            <a:r>
              <a:rPr lang="en-US" altLang="zh-CN" sz="2000" dirty="0" err="1">
                <a:solidFill>
                  <a:schemeClr val="tx1"/>
                </a:solidFill>
              </a:rPr>
              <a:t>hdfs</a:t>
            </a:r>
            <a:endParaRPr lang="en-US" altLang="zh-CN" sz="2000" dirty="0">
              <a:solidFill>
                <a:schemeClr val="tx1"/>
              </a:solidFill>
            </a:endParaRPr>
          </a:p>
          <a:p>
            <a:endParaRPr lang="en-US" sz="2000" dirty="0">
              <a:solidFill>
                <a:schemeClr val="tx1"/>
              </a:solidFill>
            </a:endParaRPr>
          </a:p>
          <a:p>
            <a:pPr marL="342900" indent="-342900">
              <a:buFont typeface="Wingdings" panose="05000000000000000000" pitchFamily="2" charset="2"/>
              <a:buChar char="Ø"/>
            </a:pPr>
            <a:r>
              <a:rPr lang="zh-CN" altLang="en-US" sz="2000" dirty="0">
                <a:solidFill>
                  <a:schemeClr val="tx1"/>
                </a:solidFill>
              </a:rPr>
              <a:t>修改</a:t>
            </a:r>
            <a:r>
              <a:rPr lang="en-US" altLang="zh-CN" sz="2000" dirty="0" err="1">
                <a:solidFill>
                  <a:schemeClr val="tx1"/>
                </a:solidFill>
              </a:rPr>
              <a:t>avenger.attr_vals</a:t>
            </a:r>
            <a:r>
              <a:rPr lang="zh-CN" altLang="en-US" sz="2000" dirty="0">
                <a:solidFill>
                  <a:schemeClr val="tx1"/>
                </a:solidFill>
              </a:rPr>
              <a:t>表属性</a:t>
            </a:r>
            <a:r>
              <a:rPr lang="en-US" altLang="zh-CN" sz="2000" dirty="0" err="1">
                <a:solidFill>
                  <a:schemeClr val="tx1"/>
                </a:solidFill>
              </a:rPr>
              <a:t>write.metadata.path</a:t>
            </a:r>
            <a:r>
              <a:rPr lang="en-US" altLang="zh-CN" sz="2000" dirty="0">
                <a:solidFill>
                  <a:schemeClr val="tx1"/>
                </a:solidFill>
              </a:rPr>
              <a:t>, </a:t>
            </a:r>
            <a:r>
              <a:rPr lang="en-US" altLang="zh-CN" sz="2000" dirty="0" err="1">
                <a:solidFill>
                  <a:schemeClr val="tx1"/>
                </a:solidFill>
              </a:rPr>
              <a:t>write.data.path</a:t>
            </a:r>
            <a:endParaRPr lang="en-US" altLang="zh-CN" sz="2000" dirty="0">
              <a:solidFill>
                <a:schemeClr val="tx1"/>
              </a:solidFill>
            </a:endParaRPr>
          </a:p>
          <a:p>
            <a:endParaRPr lang="en-US" sz="2000" dirty="0">
              <a:solidFill>
                <a:schemeClr val="tx1"/>
              </a:solidFill>
            </a:endParaRPr>
          </a:p>
        </p:txBody>
      </p:sp>
      <p:pic>
        <p:nvPicPr>
          <p:cNvPr id="6" name="Picture 5">
            <a:extLst>
              <a:ext uri="{FF2B5EF4-FFF2-40B4-BE49-F238E27FC236}">
                <a16:creationId xmlns:a16="http://schemas.microsoft.com/office/drawing/2014/main" id="{F863B090-907E-5E3B-F027-5E228FA0DEC4}"/>
              </a:ext>
            </a:extLst>
          </p:cNvPr>
          <p:cNvPicPr>
            <a:picLocks noChangeAspect="1"/>
          </p:cNvPicPr>
          <p:nvPr/>
        </p:nvPicPr>
        <p:blipFill>
          <a:blip r:embed="rId2"/>
          <a:stretch>
            <a:fillRect/>
          </a:stretch>
        </p:blipFill>
        <p:spPr>
          <a:xfrm>
            <a:off x="1097597" y="2248852"/>
            <a:ext cx="6610350" cy="3000375"/>
          </a:xfrm>
          <a:prstGeom prst="rect">
            <a:avLst/>
          </a:prstGeom>
        </p:spPr>
      </p:pic>
    </p:spTree>
    <p:extLst>
      <p:ext uri="{BB962C8B-B14F-4D97-AF65-F5344CB8AC3E}">
        <p14:creationId xmlns:p14="http://schemas.microsoft.com/office/powerpoint/2010/main" val="1975465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2DD08-E75E-AFBA-009B-4DA2235E4B10}"/>
            </a:ext>
          </a:extLst>
        </p:cNvPr>
        <p:cNvGrpSpPr/>
        <p:nvPr/>
      </p:nvGrpSpPr>
      <p:grpSpPr>
        <a:xfrm>
          <a:off x="0" y="0"/>
          <a:ext cx="0" cy="0"/>
          <a:chOff x="0" y="0"/>
          <a:chExt cx="0" cy="0"/>
        </a:xfrm>
      </p:grpSpPr>
      <p:sp>
        <p:nvSpPr>
          <p:cNvPr id="19" name="Google Shape;19;p3">
            <a:extLst>
              <a:ext uri="{FF2B5EF4-FFF2-40B4-BE49-F238E27FC236}">
                <a16:creationId xmlns:a16="http://schemas.microsoft.com/office/drawing/2014/main" id="{AAD5BB0A-5CA4-1A05-D3C3-0759D3CD379E}"/>
              </a:ext>
            </a:extLst>
          </p:cNvPr>
          <p:cNvSpPr txBox="1">
            <a:spLocks noGrp="1"/>
          </p:cNvSpPr>
          <p:nvPr>
            <p:ph type="title"/>
          </p:nvPr>
        </p:nvSpPr>
        <p:spPr>
          <a:xfrm>
            <a:off x="533250" y="467150"/>
            <a:ext cx="11190600" cy="4995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dirty="0"/>
              <a:t>Catalog Support S3 and </a:t>
            </a:r>
            <a:r>
              <a:rPr lang="en-US" altLang="zh-CN" dirty="0" err="1"/>
              <a:t>Hdfs</a:t>
            </a:r>
            <a:endParaRPr lang="en-US" altLang="zh-CN" sz="2800" dirty="0"/>
          </a:p>
        </p:txBody>
      </p:sp>
      <p:sp>
        <p:nvSpPr>
          <p:cNvPr id="2" name="Google Shape;19;p3">
            <a:extLst>
              <a:ext uri="{FF2B5EF4-FFF2-40B4-BE49-F238E27FC236}">
                <a16:creationId xmlns:a16="http://schemas.microsoft.com/office/drawing/2014/main" id="{EE501DD2-0388-4C51-007E-B9C11A7C169A}"/>
              </a:ext>
            </a:extLst>
          </p:cNvPr>
          <p:cNvSpPr txBox="1">
            <a:spLocks/>
          </p:cNvSpPr>
          <p:nvPr/>
        </p:nvSpPr>
        <p:spPr>
          <a:xfrm>
            <a:off x="606402" y="1030658"/>
            <a:ext cx="11416858" cy="80728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Ø"/>
            </a:pPr>
            <a:r>
              <a:rPr lang="zh-CN" altLang="en-US" sz="2000" dirty="0">
                <a:solidFill>
                  <a:schemeClr val="tx1"/>
                </a:solidFill>
              </a:rPr>
              <a:t>将</a:t>
            </a:r>
            <a:r>
              <a:rPr lang="en-US" altLang="zh-CN" sz="2000" dirty="0" err="1">
                <a:solidFill>
                  <a:schemeClr val="tx1"/>
                </a:solidFill>
              </a:rPr>
              <a:t>hadoop</a:t>
            </a:r>
            <a:r>
              <a:rPr lang="zh-CN" altLang="en-US" sz="2000" dirty="0">
                <a:solidFill>
                  <a:schemeClr val="tx1"/>
                </a:solidFill>
              </a:rPr>
              <a:t>配置文件</a:t>
            </a:r>
            <a:r>
              <a:rPr lang="en-US" altLang="zh-CN" sz="2000" dirty="0">
                <a:solidFill>
                  <a:schemeClr val="tx1"/>
                </a:solidFill>
              </a:rPr>
              <a:t>core-site.xml,hdfs-site.xml</a:t>
            </a:r>
            <a:r>
              <a:rPr lang="zh-CN" altLang="en-US" sz="2000" dirty="0">
                <a:solidFill>
                  <a:schemeClr val="tx1"/>
                </a:solidFill>
              </a:rPr>
              <a:t>放到</a:t>
            </a:r>
            <a:r>
              <a:rPr lang="en-US" altLang="zh-CN" sz="2000" dirty="0">
                <a:solidFill>
                  <a:schemeClr val="tx1"/>
                </a:solidFill>
              </a:rPr>
              <a:t>catalog</a:t>
            </a:r>
            <a:r>
              <a:rPr lang="zh-CN" altLang="en-US" sz="2000" dirty="0">
                <a:solidFill>
                  <a:schemeClr val="tx1"/>
                </a:solidFill>
              </a:rPr>
              <a:t>的资源目录下，打包发布</a:t>
            </a:r>
            <a:r>
              <a:rPr lang="en-US" altLang="zh-CN" sz="2000" dirty="0">
                <a:solidFill>
                  <a:schemeClr val="tx1"/>
                </a:solidFill>
              </a:rPr>
              <a:t>catalog</a:t>
            </a:r>
            <a:endParaRPr lang="en-US" sz="2000" dirty="0">
              <a:solidFill>
                <a:schemeClr val="tx1"/>
              </a:solidFill>
            </a:endParaRPr>
          </a:p>
        </p:txBody>
      </p:sp>
      <p:pic>
        <p:nvPicPr>
          <p:cNvPr id="4" name="Picture 3">
            <a:extLst>
              <a:ext uri="{FF2B5EF4-FFF2-40B4-BE49-F238E27FC236}">
                <a16:creationId xmlns:a16="http://schemas.microsoft.com/office/drawing/2014/main" id="{62419DC4-F82D-4136-1A05-4CD8ADE4F25F}"/>
              </a:ext>
            </a:extLst>
          </p:cNvPr>
          <p:cNvPicPr>
            <a:picLocks noChangeAspect="1"/>
          </p:cNvPicPr>
          <p:nvPr/>
        </p:nvPicPr>
        <p:blipFill>
          <a:blip r:embed="rId2"/>
          <a:stretch>
            <a:fillRect/>
          </a:stretch>
        </p:blipFill>
        <p:spPr>
          <a:xfrm>
            <a:off x="1101788" y="1704784"/>
            <a:ext cx="7772400" cy="1400175"/>
          </a:xfrm>
          <a:prstGeom prst="rect">
            <a:avLst/>
          </a:prstGeom>
        </p:spPr>
      </p:pic>
      <p:sp>
        <p:nvSpPr>
          <p:cNvPr id="5" name="Google Shape;19;p3">
            <a:extLst>
              <a:ext uri="{FF2B5EF4-FFF2-40B4-BE49-F238E27FC236}">
                <a16:creationId xmlns:a16="http://schemas.microsoft.com/office/drawing/2014/main" id="{8216C91D-C23C-CE09-4EFD-829ECEDB05F7}"/>
              </a:ext>
            </a:extLst>
          </p:cNvPr>
          <p:cNvSpPr txBox="1">
            <a:spLocks/>
          </p:cNvSpPr>
          <p:nvPr/>
        </p:nvSpPr>
        <p:spPr>
          <a:xfrm>
            <a:off x="606402" y="3375442"/>
            <a:ext cx="11416858" cy="80728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Ø"/>
            </a:pPr>
            <a:r>
              <a:rPr lang="zh-CN" altLang="en-US" sz="2000" dirty="0">
                <a:solidFill>
                  <a:schemeClr val="tx1"/>
                </a:solidFill>
              </a:rPr>
              <a:t>在</a:t>
            </a:r>
            <a:r>
              <a:rPr lang="en-US" altLang="zh-CN" sz="2000" dirty="0" err="1">
                <a:solidFill>
                  <a:schemeClr val="tx1"/>
                </a:solidFill>
              </a:rPr>
              <a:t>trino</a:t>
            </a:r>
            <a:r>
              <a:rPr lang="zh-CN" altLang="en-US" sz="2000" dirty="0">
                <a:solidFill>
                  <a:schemeClr val="tx1"/>
                </a:solidFill>
              </a:rPr>
              <a:t>的</a:t>
            </a:r>
            <a:r>
              <a:rPr lang="en-US" altLang="zh-CN" sz="2000" dirty="0">
                <a:solidFill>
                  <a:schemeClr val="tx1"/>
                </a:solidFill>
              </a:rPr>
              <a:t>iceberg connector</a:t>
            </a:r>
            <a:r>
              <a:rPr lang="zh-CN" altLang="en-US" sz="2000" dirty="0">
                <a:solidFill>
                  <a:schemeClr val="tx1"/>
                </a:solidFill>
              </a:rPr>
              <a:t>下配置</a:t>
            </a:r>
            <a:r>
              <a:rPr lang="en-US" altLang="zh-CN" sz="2000" dirty="0" err="1">
                <a:solidFill>
                  <a:schemeClr val="tx1"/>
                </a:solidFill>
              </a:rPr>
              <a:t>hadoop</a:t>
            </a:r>
            <a:r>
              <a:rPr lang="zh-CN" altLang="en-US" sz="2000" dirty="0">
                <a:solidFill>
                  <a:schemeClr val="tx1"/>
                </a:solidFill>
              </a:rPr>
              <a:t>参数</a:t>
            </a:r>
            <a:endParaRPr lang="en-US" sz="2000" dirty="0">
              <a:solidFill>
                <a:schemeClr val="tx1"/>
              </a:solidFill>
            </a:endParaRPr>
          </a:p>
        </p:txBody>
      </p:sp>
      <p:pic>
        <p:nvPicPr>
          <p:cNvPr id="10" name="Picture 9">
            <a:extLst>
              <a:ext uri="{FF2B5EF4-FFF2-40B4-BE49-F238E27FC236}">
                <a16:creationId xmlns:a16="http://schemas.microsoft.com/office/drawing/2014/main" id="{B9FC17E0-5CAE-0B51-40E6-E62692E28B25}"/>
              </a:ext>
            </a:extLst>
          </p:cNvPr>
          <p:cNvPicPr>
            <a:picLocks noChangeAspect="1"/>
          </p:cNvPicPr>
          <p:nvPr/>
        </p:nvPicPr>
        <p:blipFill>
          <a:blip r:embed="rId3"/>
          <a:stretch>
            <a:fillRect/>
          </a:stretch>
        </p:blipFill>
        <p:spPr>
          <a:xfrm>
            <a:off x="994918" y="4091368"/>
            <a:ext cx="9229725" cy="1857375"/>
          </a:xfrm>
          <a:prstGeom prst="rect">
            <a:avLst/>
          </a:prstGeom>
        </p:spPr>
      </p:pic>
    </p:spTree>
    <p:extLst>
      <p:ext uri="{BB962C8B-B14F-4D97-AF65-F5344CB8AC3E}">
        <p14:creationId xmlns:p14="http://schemas.microsoft.com/office/powerpoint/2010/main" val="3714109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485F3-A15D-662C-57EB-939E95B6FC80}"/>
            </a:ext>
          </a:extLst>
        </p:cNvPr>
        <p:cNvGrpSpPr/>
        <p:nvPr/>
      </p:nvGrpSpPr>
      <p:grpSpPr>
        <a:xfrm>
          <a:off x="0" y="0"/>
          <a:ext cx="0" cy="0"/>
          <a:chOff x="0" y="0"/>
          <a:chExt cx="0" cy="0"/>
        </a:xfrm>
      </p:grpSpPr>
      <p:sp>
        <p:nvSpPr>
          <p:cNvPr id="19" name="Google Shape;19;p3">
            <a:extLst>
              <a:ext uri="{FF2B5EF4-FFF2-40B4-BE49-F238E27FC236}">
                <a16:creationId xmlns:a16="http://schemas.microsoft.com/office/drawing/2014/main" id="{9234BF90-AA07-D43A-87BF-8D315177192D}"/>
              </a:ext>
            </a:extLst>
          </p:cNvPr>
          <p:cNvSpPr txBox="1">
            <a:spLocks noGrp="1"/>
          </p:cNvSpPr>
          <p:nvPr>
            <p:ph type="title"/>
          </p:nvPr>
        </p:nvSpPr>
        <p:spPr>
          <a:xfrm>
            <a:off x="533250" y="467150"/>
            <a:ext cx="11190600" cy="4995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dirty="0"/>
              <a:t>Catalog Support S3 and </a:t>
            </a:r>
            <a:r>
              <a:rPr lang="en-US" altLang="zh-CN" dirty="0" err="1"/>
              <a:t>Hdfs</a:t>
            </a:r>
            <a:endParaRPr lang="en-US" altLang="zh-CN" sz="2800" dirty="0"/>
          </a:p>
        </p:txBody>
      </p:sp>
      <p:sp>
        <p:nvSpPr>
          <p:cNvPr id="2" name="Google Shape;19;p3">
            <a:extLst>
              <a:ext uri="{FF2B5EF4-FFF2-40B4-BE49-F238E27FC236}">
                <a16:creationId xmlns:a16="http://schemas.microsoft.com/office/drawing/2014/main" id="{4F177ACC-B431-99EA-DFA3-3142E662F5AA}"/>
              </a:ext>
            </a:extLst>
          </p:cNvPr>
          <p:cNvSpPr txBox="1">
            <a:spLocks/>
          </p:cNvSpPr>
          <p:nvPr/>
        </p:nvSpPr>
        <p:spPr>
          <a:xfrm>
            <a:off x="606402" y="1030658"/>
            <a:ext cx="11416858" cy="80728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Ø"/>
            </a:pPr>
            <a:r>
              <a:rPr lang="zh-CN" altLang="en-US" sz="2000" dirty="0">
                <a:solidFill>
                  <a:schemeClr val="tx1"/>
                </a:solidFill>
              </a:rPr>
              <a:t>在</a:t>
            </a:r>
            <a:r>
              <a:rPr lang="en-US" altLang="zh-CN" sz="2000" dirty="0" err="1">
                <a:solidFill>
                  <a:schemeClr val="tx1"/>
                </a:solidFill>
              </a:rPr>
              <a:t>trino</a:t>
            </a:r>
            <a:r>
              <a:rPr lang="zh-CN" altLang="en-US" sz="2000" dirty="0">
                <a:solidFill>
                  <a:schemeClr val="tx1"/>
                </a:solidFill>
              </a:rPr>
              <a:t>中用</a:t>
            </a:r>
            <a:r>
              <a:rPr lang="en-US" altLang="zh-CN" sz="2000" dirty="0">
                <a:solidFill>
                  <a:schemeClr val="tx1"/>
                </a:solidFill>
              </a:rPr>
              <a:t>insert into</a:t>
            </a:r>
            <a:r>
              <a:rPr lang="zh-CN" altLang="en-US" sz="2000" dirty="0">
                <a:solidFill>
                  <a:schemeClr val="tx1"/>
                </a:solidFill>
              </a:rPr>
              <a:t>语句插入</a:t>
            </a:r>
            <a:r>
              <a:rPr lang="en-US" altLang="zh-CN" sz="2000" dirty="0" err="1">
                <a:solidFill>
                  <a:schemeClr val="tx1"/>
                </a:solidFill>
              </a:rPr>
              <a:t>avenger.attr_vals</a:t>
            </a:r>
            <a:r>
              <a:rPr lang="zh-CN" altLang="en-US" sz="2000" dirty="0">
                <a:solidFill>
                  <a:schemeClr val="tx1"/>
                </a:solidFill>
              </a:rPr>
              <a:t>表数据，执行成功</a:t>
            </a:r>
            <a:endParaRPr lang="en-US" sz="2000" dirty="0">
              <a:solidFill>
                <a:schemeClr val="tx1"/>
              </a:solidFill>
            </a:endParaRPr>
          </a:p>
        </p:txBody>
      </p:sp>
      <p:pic>
        <p:nvPicPr>
          <p:cNvPr id="6" name="Picture 5">
            <a:extLst>
              <a:ext uri="{FF2B5EF4-FFF2-40B4-BE49-F238E27FC236}">
                <a16:creationId xmlns:a16="http://schemas.microsoft.com/office/drawing/2014/main" id="{889F1F2F-784A-544B-21CB-245C6FBA5FA9}"/>
              </a:ext>
            </a:extLst>
          </p:cNvPr>
          <p:cNvPicPr>
            <a:picLocks noChangeAspect="1"/>
          </p:cNvPicPr>
          <p:nvPr/>
        </p:nvPicPr>
        <p:blipFill>
          <a:blip r:embed="rId2"/>
          <a:stretch>
            <a:fillRect/>
          </a:stretch>
        </p:blipFill>
        <p:spPr>
          <a:xfrm>
            <a:off x="1054354" y="1685925"/>
            <a:ext cx="8543925" cy="1743075"/>
          </a:xfrm>
          <a:prstGeom prst="rect">
            <a:avLst/>
          </a:prstGeom>
        </p:spPr>
      </p:pic>
      <p:pic>
        <p:nvPicPr>
          <p:cNvPr id="8" name="Picture 7">
            <a:extLst>
              <a:ext uri="{FF2B5EF4-FFF2-40B4-BE49-F238E27FC236}">
                <a16:creationId xmlns:a16="http://schemas.microsoft.com/office/drawing/2014/main" id="{ED35B326-54A3-61D1-2C46-75DAE5CFD12E}"/>
              </a:ext>
            </a:extLst>
          </p:cNvPr>
          <p:cNvPicPr>
            <a:picLocks noChangeAspect="1"/>
          </p:cNvPicPr>
          <p:nvPr/>
        </p:nvPicPr>
        <p:blipFill>
          <a:blip r:embed="rId3"/>
          <a:stretch>
            <a:fillRect/>
          </a:stretch>
        </p:blipFill>
        <p:spPr>
          <a:xfrm>
            <a:off x="1054354" y="4179517"/>
            <a:ext cx="5448300" cy="1647825"/>
          </a:xfrm>
          <a:prstGeom prst="rect">
            <a:avLst/>
          </a:prstGeom>
        </p:spPr>
      </p:pic>
      <p:sp>
        <p:nvSpPr>
          <p:cNvPr id="9" name="Google Shape;19;p3">
            <a:extLst>
              <a:ext uri="{FF2B5EF4-FFF2-40B4-BE49-F238E27FC236}">
                <a16:creationId xmlns:a16="http://schemas.microsoft.com/office/drawing/2014/main" id="{D6700400-C860-E149-9A01-13CB5ACC030F}"/>
              </a:ext>
            </a:extLst>
          </p:cNvPr>
          <p:cNvSpPr txBox="1">
            <a:spLocks/>
          </p:cNvSpPr>
          <p:nvPr/>
        </p:nvSpPr>
        <p:spPr>
          <a:xfrm>
            <a:off x="606402" y="3429000"/>
            <a:ext cx="11416858" cy="80728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Ø"/>
            </a:pPr>
            <a:r>
              <a:rPr lang="zh-CN" altLang="en-US" sz="2000" dirty="0">
                <a:solidFill>
                  <a:schemeClr val="tx1"/>
                </a:solidFill>
              </a:rPr>
              <a:t>查询数据</a:t>
            </a:r>
            <a:endParaRPr lang="en-US" sz="2000" dirty="0">
              <a:solidFill>
                <a:schemeClr val="tx1"/>
              </a:solidFill>
            </a:endParaRPr>
          </a:p>
        </p:txBody>
      </p:sp>
    </p:spTree>
    <p:extLst>
      <p:ext uri="{BB962C8B-B14F-4D97-AF65-F5344CB8AC3E}">
        <p14:creationId xmlns:p14="http://schemas.microsoft.com/office/powerpoint/2010/main" val="3267328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6F188-CBBB-3F97-5846-B8C28A96C587}"/>
            </a:ext>
          </a:extLst>
        </p:cNvPr>
        <p:cNvGrpSpPr/>
        <p:nvPr/>
      </p:nvGrpSpPr>
      <p:grpSpPr>
        <a:xfrm>
          <a:off x="0" y="0"/>
          <a:ext cx="0" cy="0"/>
          <a:chOff x="0" y="0"/>
          <a:chExt cx="0" cy="0"/>
        </a:xfrm>
      </p:grpSpPr>
      <p:sp>
        <p:nvSpPr>
          <p:cNvPr id="19" name="Google Shape;19;p3">
            <a:extLst>
              <a:ext uri="{FF2B5EF4-FFF2-40B4-BE49-F238E27FC236}">
                <a16:creationId xmlns:a16="http://schemas.microsoft.com/office/drawing/2014/main" id="{D4DE4065-E9AD-E303-33B9-3CF85C8E32E5}"/>
              </a:ext>
            </a:extLst>
          </p:cNvPr>
          <p:cNvSpPr txBox="1">
            <a:spLocks noGrp="1"/>
          </p:cNvSpPr>
          <p:nvPr>
            <p:ph type="title"/>
          </p:nvPr>
        </p:nvSpPr>
        <p:spPr>
          <a:xfrm>
            <a:off x="533250" y="467150"/>
            <a:ext cx="11190600" cy="4995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dirty="0"/>
              <a:t>Catalog Support S3 and </a:t>
            </a:r>
            <a:r>
              <a:rPr lang="en-US" altLang="zh-CN" dirty="0" err="1"/>
              <a:t>Hdfs</a:t>
            </a:r>
            <a:endParaRPr lang="en-US" altLang="zh-CN" sz="2800" dirty="0"/>
          </a:p>
        </p:txBody>
      </p:sp>
      <p:sp>
        <p:nvSpPr>
          <p:cNvPr id="2" name="Google Shape;19;p3">
            <a:extLst>
              <a:ext uri="{FF2B5EF4-FFF2-40B4-BE49-F238E27FC236}">
                <a16:creationId xmlns:a16="http://schemas.microsoft.com/office/drawing/2014/main" id="{2DD5230B-94A5-92F9-FEEE-D6CD838B72E6}"/>
              </a:ext>
            </a:extLst>
          </p:cNvPr>
          <p:cNvSpPr txBox="1">
            <a:spLocks/>
          </p:cNvSpPr>
          <p:nvPr/>
        </p:nvSpPr>
        <p:spPr>
          <a:xfrm>
            <a:off x="606402" y="1030658"/>
            <a:ext cx="11416858" cy="80728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Ø"/>
            </a:pPr>
            <a:r>
              <a:rPr lang="en-US" altLang="zh-CN" sz="2000" dirty="0">
                <a:solidFill>
                  <a:schemeClr val="tx1"/>
                </a:solidFill>
              </a:rPr>
              <a:t>S3 metadata</a:t>
            </a:r>
            <a:r>
              <a:rPr lang="zh-CN" altLang="en-US" sz="2000" dirty="0">
                <a:solidFill>
                  <a:schemeClr val="tx1"/>
                </a:solidFill>
              </a:rPr>
              <a:t>地址</a:t>
            </a:r>
            <a:endParaRPr lang="en-US" sz="2000" dirty="0">
              <a:solidFill>
                <a:schemeClr val="tx1"/>
              </a:solidFill>
            </a:endParaRPr>
          </a:p>
        </p:txBody>
      </p:sp>
      <p:sp>
        <p:nvSpPr>
          <p:cNvPr id="9" name="Google Shape;19;p3">
            <a:extLst>
              <a:ext uri="{FF2B5EF4-FFF2-40B4-BE49-F238E27FC236}">
                <a16:creationId xmlns:a16="http://schemas.microsoft.com/office/drawing/2014/main" id="{01F422BB-78C7-CAD1-4932-C2F39FC8C67B}"/>
              </a:ext>
            </a:extLst>
          </p:cNvPr>
          <p:cNvSpPr txBox="1">
            <a:spLocks/>
          </p:cNvSpPr>
          <p:nvPr/>
        </p:nvSpPr>
        <p:spPr>
          <a:xfrm>
            <a:off x="606402" y="4095505"/>
            <a:ext cx="11416858" cy="47548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Ø"/>
            </a:pPr>
            <a:r>
              <a:rPr lang="en-US" altLang="zh-CN" sz="2000" dirty="0" err="1">
                <a:solidFill>
                  <a:schemeClr val="tx1"/>
                </a:solidFill>
              </a:rPr>
              <a:t>Hdfs</a:t>
            </a:r>
            <a:r>
              <a:rPr lang="en-US" altLang="zh-CN" sz="2000" dirty="0">
                <a:solidFill>
                  <a:schemeClr val="tx1"/>
                </a:solidFill>
              </a:rPr>
              <a:t> data</a:t>
            </a:r>
            <a:r>
              <a:rPr lang="zh-CN" altLang="en-US" sz="2000" dirty="0">
                <a:solidFill>
                  <a:schemeClr val="tx1"/>
                </a:solidFill>
              </a:rPr>
              <a:t>地址</a:t>
            </a:r>
            <a:endParaRPr lang="en-US" sz="2000" dirty="0">
              <a:solidFill>
                <a:schemeClr val="tx1"/>
              </a:solidFill>
            </a:endParaRPr>
          </a:p>
        </p:txBody>
      </p:sp>
      <p:pic>
        <p:nvPicPr>
          <p:cNvPr id="4" name="Picture 3">
            <a:extLst>
              <a:ext uri="{FF2B5EF4-FFF2-40B4-BE49-F238E27FC236}">
                <a16:creationId xmlns:a16="http://schemas.microsoft.com/office/drawing/2014/main" id="{C0B2B8AB-C882-40BC-75F1-223FA948CFC9}"/>
              </a:ext>
            </a:extLst>
          </p:cNvPr>
          <p:cNvPicPr>
            <a:picLocks noChangeAspect="1"/>
          </p:cNvPicPr>
          <p:nvPr/>
        </p:nvPicPr>
        <p:blipFill>
          <a:blip r:embed="rId2"/>
          <a:stretch>
            <a:fillRect/>
          </a:stretch>
        </p:blipFill>
        <p:spPr>
          <a:xfrm>
            <a:off x="1085786" y="1649539"/>
            <a:ext cx="7200900" cy="2333625"/>
          </a:xfrm>
          <a:prstGeom prst="rect">
            <a:avLst/>
          </a:prstGeom>
        </p:spPr>
      </p:pic>
      <p:pic>
        <p:nvPicPr>
          <p:cNvPr id="7" name="Picture 6">
            <a:extLst>
              <a:ext uri="{FF2B5EF4-FFF2-40B4-BE49-F238E27FC236}">
                <a16:creationId xmlns:a16="http://schemas.microsoft.com/office/drawing/2014/main" id="{75A1F356-2F6D-8663-54D7-ADD9C8606FC6}"/>
              </a:ext>
            </a:extLst>
          </p:cNvPr>
          <p:cNvPicPr>
            <a:picLocks noChangeAspect="1"/>
          </p:cNvPicPr>
          <p:nvPr/>
        </p:nvPicPr>
        <p:blipFill>
          <a:blip r:embed="rId3"/>
          <a:stretch>
            <a:fillRect/>
          </a:stretch>
        </p:blipFill>
        <p:spPr>
          <a:xfrm>
            <a:off x="969264" y="4683334"/>
            <a:ext cx="11053996" cy="828215"/>
          </a:xfrm>
          <a:prstGeom prst="rect">
            <a:avLst/>
          </a:prstGeom>
        </p:spPr>
      </p:pic>
    </p:spTree>
    <p:extLst>
      <p:ext uri="{BB962C8B-B14F-4D97-AF65-F5344CB8AC3E}">
        <p14:creationId xmlns:p14="http://schemas.microsoft.com/office/powerpoint/2010/main" val="3642691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97953-BA54-1776-57C9-CCFE62C77587}"/>
            </a:ext>
          </a:extLst>
        </p:cNvPr>
        <p:cNvGrpSpPr/>
        <p:nvPr/>
      </p:nvGrpSpPr>
      <p:grpSpPr>
        <a:xfrm>
          <a:off x="0" y="0"/>
          <a:ext cx="0" cy="0"/>
          <a:chOff x="0" y="0"/>
          <a:chExt cx="0" cy="0"/>
        </a:xfrm>
      </p:grpSpPr>
      <p:sp>
        <p:nvSpPr>
          <p:cNvPr id="19" name="Google Shape;19;p3">
            <a:extLst>
              <a:ext uri="{FF2B5EF4-FFF2-40B4-BE49-F238E27FC236}">
                <a16:creationId xmlns:a16="http://schemas.microsoft.com/office/drawing/2014/main" id="{C7C49F29-0942-B043-71AF-3498E198E0D5}"/>
              </a:ext>
            </a:extLst>
          </p:cNvPr>
          <p:cNvSpPr txBox="1">
            <a:spLocks noGrp="1"/>
          </p:cNvSpPr>
          <p:nvPr>
            <p:ph type="title"/>
          </p:nvPr>
        </p:nvSpPr>
        <p:spPr>
          <a:xfrm>
            <a:off x="533250" y="467150"/>
            <a:ext cx="11190600" cy="4995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dirty="0"/>
              <a:t>Catalog Support S3 and </a:t>
            </a:r>
            <a:r>
              <a:rPr lang="en-US" altLang="zh-CN" dirty="0" err="1"/>
              <a:t>Hdfs</a:t>
            </a:r>
            <a:endParaRPr lang="en-US" altLang="zh-CN" sz="2800" dirty="0"/>
          </a:p>
        </p:txBody>
      </p:sp>
      <p:sp>
        <p:nvSpPr>
          <p:cNvPr id="2" name="Google Shape;19;p3">
            <a:extLst>
              <a:ext uri="{FF2B5EF4-FFF2-40B4-BE49-F238E27FC236}">
                <a16:creationId xmlns:a16="http://schemas.microsoft.com/office/drawing/2014/main" id="{A9E5F79F-4A9A-1193-65BE-A8DB5F6BC3A2}"/>
              </a:ext>
            </a:extLst>
          </p:cNvPr>
          <p:cNvSpPr txBox="1">
            <a:spLocks/>
          </p:cNvSpPr>
          <p:nvPr/>
        </p:nvSpPr>
        <p:spPr>
          <a:xfrm>
            <a:off x="606402" y="1030658"/>
            <a:ext cx="11416858" cy="99016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Ø"/>
            </a:pPr>
            <a:r>
              <a:rPr lang="zh-CN" altLang="en-US" sz="1400" dirty="0">
                <a:solidFill>
                  <a:schemeClr val="tx1"/>
                </a:solidFill>
              </a:rPr>
              <a:t>尝试将</a:t>
            </a:r>
            <a:r>
              <a:rPr lang="en-US" altLang="zh-CN" sz="1400" dirty="0">
                <a:solidFill>
                  <a:schemeClr val="tx1"/>
                </a:solidFill>
              </a:rPr>
              <a:t>metadata</a:t>
            </a:r>
            <a:r>
              <a:rPr lang="zh-CN" altLang="en-US" sz="1400" dirty="0">
                <a:solidFill>
                  <a:schemeClr val="tx1"/>
                </a:solidFill>
              </a:rPr>
              <a:t>从</a:t>
            </a:r>
            <a:r>
              <a:rPr lang="en-US" altLang="zh-CN" sz="1400" dirty="0">
                <a:solidFill>
                  <a:schemeClr val="tx1"/>
                </a:solidFill>
              </a:rPr>
              <a:t>s3</a:t>
            </a:r>
            <a:r>
              <a:rPr lang="zh-CN" altLang="en-US" sz="1400" dirty="0">
                <a:solidFill>
                  <a:schemeClr val="tx1"/>
                </a:solidFill>
              </a:rPr>
              <a:t>迁移到</a:t>
            </a:r>
            <a:r>
              <a:rPr lang="en-US" altLang="zh-CN" sz="1400" dirty="0" err="1">
                <a:solidFill>
                  <a:schemeClr val="tx1"/>
                </a:solidFill>
              </a:rPr>
              <a:t>hdfs</a:t>
            </a:r>
            <a:r>
              <a:rPr lang="zh-CN" altLang="en-US" sz="1400" dirty="0">
                <a:solidFill>
                  <a:schemeClr val="tx1"/>
                </a:solidFill>
              </a:rPr>
              <a:t>，报错</a:t>
            </a:r>
            <a:endParaRPr lang="en-US" altLang="zh-CN" sz="1400" dirty="0">
              <a:solidFill>
                <a:schemeClr val="tx1"/>
              </a:solidFill>
            </a:endParaRPr>
          </a:p>
          <a:p>
            <a:pPr marL="342900" indent="-342900">
              <a:buFont typeface="Wingdings" panose="05000000000000000000" pitchFamily="2" charset="2"/>
              <a:buChar char="Ø"/>
            </a:pPr>
            <a:endParaRPr lang="en-US" altLang="zh-CN" sz="1400" dirty="0">
              <a:solidFill>
                <a:schemeClr val="tx1"/>
              </a:solidFill>
            </a:endParaRPr>
          </a:p>
          <a:p>
            <a:r>
              <a:rPr lang="en-US" sz="1400" dirty="0">
                <a:solidFill>
                  <a:schemeClr val="tx1"/>
                </a:solidFill>
              </a:rPr>
              <a:t>ALTER TABLE </a:t>
            </a:r>
            <a:r>
              <a:rPr lang="en-US" sz="1400" dirty="0" err="1">
                <a:solidFill>
                  <a:schemeClr val="tx1"/>
                </a:solidFill>
              </a:rPr>
              <a:t>cimarron.attr_vals</a:t>
            </a:r>
            <a:r>
              <a:rPr lang="en-US" sz="1400" dirty="0">
                <a:solidFill>
                  <a:schemeClr val="tx1"/>
                </a:solidFill>
              </a:rPr>
              <a:t> SET TBLPROPERTIES (‘</a:t>
            </a:r>
            <a:r>
              <a:rPr lang="en-US" sz="1400" dirty="0" err="1">
                <a:solidFill>
                  <a:schemeClr val="tx1"/>
                </a:solidFill>
              </a:rPr>
              <a:t>write.metadata.path</a:t>
            </a:r>
            <a:r>
              <a:rPr lang="en-US" sz="1400" dirty="0">
                <a:solidFill>
                  <a:schemeClr val="tx1"/>
                </a:solidFill>
              </a:rPr>
              <a:t>’ = ‘</a:t>
            </a:r>
            <a:r>
              <a:rPr lang="en-US" sz="1400" dirty="0" err="1">
                <a:solidFill>
                  <a:schemeClr val="tx1"/>
                </a:solidFill>
              </a:rPr>
              <a:t>hdfs</a:t>
            </a:r>
            <a:r>
              <a:rPr lang="en-US" sz="1400" dirty="0">
                <a:solidFill>
                  <a:schemeClr val="tx1"/>
                </a:solidFill>
              </a:rPr>
              <a:t>://TKDDO-HADOOP/</a:t>
            </a:r>
            <a:r>
              <a:rPr lang="en-US" sz="1400" dirty="0" err="1">
                <a:solidFill>
                  <a:schemeClr val="tx1"/>
                </a:solidFill>
              </a:rPr>
              <a:t>tmp</a:t>
            </a:r>
            <a:r>
              <a:rPr lang="en-US" sz="1400" dirty="0">
                <a:solidFill>
                  <a:schemeClr val="tx1"/>
                </a:solidFill>
              </a:rPr>
              <a:t>/test/</a:t>
            </a:r>
            <a:r>
              <a:rPr lang="en-US" sz="1400" dirty="0" err="1">
                <a:solidFill>
                  <a:schemeClr val="tx1"/>
                </a:solidFill>
              </a:rPr>
              <a:t>ice_warehouse</a:t>
            </a:r>
            <a:r>
              <a:rPr lang="en-US" sz="1400" dirty="0">
                <a:solidFill>
                  <a:schemeClr val="tx1"/>
                </a:solidFill>
              </a:rPr>
              <a:t>/cimarron/</a:t>
            </a:r>
            <a:r>
              <a:rPr lang="en-US" sz="1400" dirty="0" err="1">
                <a:solidFill>
                  <a:schemeClr val="tx1"/>
                </a:solidFill>
              </a:rPr>
              <a:t>attr_vals</a:t>
            </a:r>
            <a:r>
              <a:rPr lang="en-US" sz="1400" dirty="0">
                <a:solidFill>
                  <a:schemeClr val="tx1"/>
                </a:solidFill>
              </a:rPr>
              <a:t>/</a:t>
            </a:r>
            <a:r>
              <a:rPr lang="en-US" sz="1400" dirty="0" err="1">
                <a:solidFill>
                  <a:schemeClr val="tx1"/>
                </a:solidFill>
              </a:rPr>
              <a:t>testmetadata</a:t>
            </a:r>
            <a:r>
              <a:rPr lang="en-US" sz="1400" dirty="0">
                <a:solidFill>
                  <a:schemeClr val="tx1"/>
                </a:solidFill>
              </a:rPr>
              <a:t>’)</a:t>
            </a:r>
            <a:endParaRPr lang="en-US" sz="2000" dirty="0">
              <a:solidFill>
                <a:schemeClr val="tx1"/>
              </a:solidFill>
            </a:endParaRPr>
          </a:p>
        </p:txBody>
      </p:sp>
      <p:pic>
        <p:nvPicPr>
          <p:cNvPr id="5" name="Picture 4">
            <a:extLst>
              <a:ext uri="{FF2B5EF4-FFF2-40B4-BE49-F238E27FC236}">
                <a16:creationId xmlns:a16="http://schemas.microsoft.com/office/drawing/2014/main" id="{1F4A9A62-5D1B-83F9-404F-891608F1C636}"/>
              </a:ext>
            </a:extLst>
          </p:cNvPr>
          <p:cNvPicPr>
            <a:picLocks noChangeAspect="1"/>
          </p:cNvPicPr>
          <p:nvPr/>
        </p:nvPicPr>
        <p:blipFill>
          <a:blip r:embed="rId2"/>
          <a:stretch>
            <a:fillRect/>
          </a:stretch>
        </p:blipFill>
        <p:spPr>
          <a:xfrm>
            <a:off x="703643" y="2133600"/>
            <a:ext cx="7562850" cy="1295400"/>
          </a:xfrm>
          <a:prstGeom prst="rect">
            <a:avLst/>
          </a:prstGeom>
        </p:spPr>
      </p:pic>
      <p:sp>
        <p:nvSpPr>
          <p:cNvPr id="6" name="Google Shape;19;p3">
            <a:extLst>
              <a:ext uri="{FF2B5EF4-FFF2-40B4-BE49-F238E27FC236}">
                <a16:creationId xmlns:a16="http://schemas.microsoft.com/office/drawing/2014/main" id="{7C7D9F1E-765C-E508-963D-65E52190B858}"/>
              </a:ext>
            </a:extLst>
          </p:cNvPr>
          <p:cNvSpPr txBox="1">
            <a:spLocks/>
          </p:cNvSpPr>
          <p:nvPr/>
        </p:nvSpPr>
        <p:spPr>
          <a:xfrm>
            <a:off x="606402" y="3697658"/>
            <a:ext cx="11416858" cy="256598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1600" dirty="0">
                <a:solidFill>
                  <a:srgbClr val="FF0000"/>
                </a:solidFill>
              </a:rPr>
              <a:t>Caused by: </a:t>
            </a:r>
            <a:r>
              <a:rPr lang="en-US" sz="1600" u="sng" dirty="0" err="1">
                <a:solidFill>
                  <a:srgbClr val="FF0000"/>
                </a:solidFill>
              </a:rPr>
              <a:t>org.apache.iceberg.exceptions.CommitStateUnknownException</a:t>
            </a:r>
            <a:r>
              <a:rPr lang="en-US" sz="1600" u="sng" dirty="0">
                <a:solidFill>
                  <a:srgbClr val="FF0000"/>
                </a:solidFill>
              </a:rPr>
              <a:t>: Service failed: 500: The specified bucket does not exist (Service: S3, Status Code: 404, Request ID: UNQKEQ2PHOQS2P67, Extended Request ID: fc63d3b93c4b68f1f32e5c2636f9e56748297736)</a:t>
            </a:r>
          </a:p>
          <a:p>
            <a:r>
              <a:rPr lang="en-US" sz="1600" dirty="0">
                <a:solidFill>
                  <a:srgbClr val="FF0000"/>
                </a:solidFill>
              </a:rPr>
              <a:t>Cannot determine whether the commit was successful or not, the underlying data files may or may not be needed. Manual intervention via the Remove Orphan Files Action can remove these files when a connection to the Catalog can be re-established if the commit was actually unsuccessful.</a:t>
            </a:r>
          </a:p>
          <a:p>
            <a:r>
              <a:rPr lang="en-US" sz="1600" dirty="0">
                <a:solidFill>
                  <a:srgbClr val="FF0000"/>
                </a:solidFill>
              </a:rPr>
              <a:t>Please check to see whether or not your commit was successful before retrying this commit. Retrying an already successful operation will result in duplicate records or unintentional modifications.</a:t>
            </a:r>
          </a:p>
          <a:p>
            <a:r>
              <a:rPr lang="en-US" sz="1600" dirty="0">
                <a:solidFill>
                  <a:srgbClr val="FF0000"/>
                </a:solidFill>
              </a:rPr>
              <a:t>At this time no files will be deleted including possibly unused manifest lists.</a:t>
            </a:r>
          </a:p>
        </p:txBody>
      </p:sp>
    </p:spTree>
    <p:extLst>
      <p:ext uri="{BB962C8B-B14F-4D97-AF65-F5344CB8AC3E}">
        <p14:creationId xmlns:p14="http://schemas.microsoft.com/office/powerpoint/2010/main" val="2222785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BBD02-31FC-026F-E514-C87592A4FFD9}"/>
            </a:ext>
          </a:extLst>
        </p:cNvPr>
        <p:cNvGrpSpPr/>
        <p:nvPr/>
      </p:nvGrpSpPr>
      <p:grpSpPr>
        <a:xfrm>
          <a:off x="0" y="0"/>
          <a:ext cx="0" cy="0"/>
          <a:chOff x="0" y="0"/>
          <a:chExt cx="0" cy="0"/>
        </a:xfrm>
      </p:grpSpPr>
      <p:sp>
        <p:nvSpPr>
          <p:cNvPr id="19" name="Google Shape;19;p3">
            <a:extLst>
              <a:ext uri="{FF2B5EF4-FFF2-40B4-BE49-F238E27FC236}">
                <a16:creationId xmlns:a16="http://schemas.microsoft.com/office/drawing/2014/main" id="{DA41A573-DB2C-76D1-AE24-B8483D60BCAB}"/>
              </a:ext>
            </a:extLst>
          </p:cNvPr>
          <p:cNvSpPr txBox="1">
            <a:spLocks noGrp="1"/>
          </p:cNvSpPr>
          <p:nvPr>
            <p:ph type="title"/>
          </p:nvPr>
        </p:nvSpPr>
        <p:spPr>
          <a:xfrm>
            <a:off x="533250" y="467150"/>
            <a:ext cx="11190600" cy="4995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sz="2800" dirty="0"/>
              <a:t>Iceberg Hidden Partition</a:t>
            </a:r>
          </a:p>
        </p:txBody>
      </p:sp>
      <p:graphicFrame>
        <p:nvGraphicFramePr>
          <p:cNvPr id="5" name="Table 4">
            <a:extLst>
              <a:ext uri="{FF2B5EF4-FFF2-40B4-BE49-F238E27FC236}">
                <a16:creationId xmlns:a16="http://schemas.microsoft.com/office/drawing/2014/main" id="{F136F967-2493-0CD9-D6FF-0221CB9E919B}"/>
              </a:ext>
            </a:extLst>
          </p:cNvPr>
          <p:cNvGraphicFramePr>
            <a:graphicFrameLocks noGrp="1"/>
          </p:cNvGraphicFramePr>
          <p:nvPr>
            <p:extLst>
              <p:ext uri="{D42A27DB-BD31-4B8C-83A1-F6EECF244321}">
                <p14:modId xmlns:p14="http://schemas.microsoft.com/office/powerpoint/2010/main" val="2072501211"/>
              </p:ext>
            </p:extLst>
          </p:nvPr>
        </p:nvGraphicFramePr>
        <p:xfrm>
          <a:off x="533250" y="1634772"/>
          <a:ext cx="10235142" cy="4892727"/>
        </p:xfrm>
        <a:graphic>
          <a:graphicData uri="http://schemas.openxmlformats.org/drawingml/2006/table">
            <a:tbl>
              <a:tblPr firstRow="1" bandRow="1">
                <a:tableStyleId>{5C22544A-7EE6-4342-B048-85BDC9FD1C3A}</a:tableStyleId>
              </a:tblPr>
              <a:tblGrid>
                <a:gridCol w="1341271">
                  <a:extLst>
                    <a:ext uri="{9D8B030D-6E8A-4147-A177-3AD203B41FA5}">
                      <a16:colId xmlns:a16="http://schemas.microsoft.com/office/drawing/2014/main" val="1847645154"/>
                    </a:ext>
                  </a:extLst>
                </a:gridCol>
                <a:gridCol w="1682496">
                  <a:extLst>
                    <a:ext uri="{9D8B030D-6E8A-4147-A177-3AD203B41FA5}">
                      <a16:colId xmlns:a16="http://schemas.microsoft.com/office/drawing/2014/main" val="430324639"/>
                    </a:ext>
                  </a:extLst>
                </a:gridCol>
                <a:gridCol w="1984248">
                  <a:extLst>
                    <a:ext uri="{9D8B030D-6E8A-4147-A177-3AD203B41FA5}">
                      <a16:colId xmlns:a16="http://schemas.microsoft.com/office/drawing/2014/main" val="2195704422"/>
                    </a:ext>
                  </a:extLst>
                </a:gridCol>
                <a:gridCol w="1325879">
                  <a:extLst>
                    <a:ext uri="{9D8B030D-6E8A-4147-A177-3AD203B41FA5}">
                      <a16:colId xmlns:a16="http://schemas.microsoft.com/office/drawing/2014/main" val="511298831"/>
                    </a:ext>
                  </a:extLst>
                </a:gridCol>
                <a:gridCol w="2195391">
                  <a:extLst>
                    <a:ext uri="{9D8B030D-6E8A-4147-A177-3AD203B41FA5}">
                      <a16:colId xmlns:a16="http://schemas.microsoft.com/office/drawing/2014/main" val="87239088"/>
                    </a:ext>
                  </a:extLst>
                </a:gridCol>
                <a:gridCol w="1705857">
                  <a:extLst>
                    <a:ext uri="{9D8B030D-6E8A-4147-A177-3AD203B41FA5}">
                      <a16:colId xmlns:a16="http://schemas.microsoft.com/office/drawing/2014/main" val="3606192504"/>
                    </a:ext>
                  </a:extLst>
                </a:gridCol>
              </a:tblGrid>
              <a:tr h="519942">
                <a:tc>
                  <a:txBody>
                    <a:bodyPr/>
                    <a:lstStyle/>
                    <a:p>
                      <a:endParaRPr lang="en-US" sz="1800" dirty="0"/>
                    </a:p>
                  </a:txBody>
                  <a:tcPr anchor="ctr"/>
                </a:tc>
                <a:tc>
                  <a:txBody>
                    <a:bodyPr/>
                    <a:lstStyle/>
                    <a:p>
                      <a:r>
                        <a:rPr lang="zh-CN" altLang="en-US" sz="1800" dirty="0"/>
                        <a:t>分区列</a:t>
                      </a:r>
                      <a:endParaRPr lang="en-US" sz="1800" dirty="0"/>
                    </a:p>
                  </a:txBody>
                  <a:tcPr anchor="ctr"/>
                </a:tc>
                <a:tc>
                  <a:txBody>
                    <a:bodyPr/>
                    <a:lstStyle/>
                    <a:p>
                      <a:r>
                        <a:rPr lang="zh-CN" altLang="en-US" sz="1800" dirty="0"/>
                        <a:t>存储路径</a:t>
                      </a:r>
                      <a:endParaRPr lang="en-US" sz="1800" dirty="0"/>
                    </a:p>
                  </a:txBody>
                  <a:tcPr anchor="ctr"/>
                </a:tc>
                <a:tc>
                  <a:txBody>
                    <a:bodyPr/>
                    <a:lstStyle/>
                    <a:p>
                      <a:r>
                        <a:rPr lang="zh-CN" altLang="en-US" sz="1800" dirty="0"/>
                        <a:t>分区类型</a:t>
                      </a:r>
                      <a:endParaRPr lang="en-US" sz="1800" dirty="0"/>
                    </a:p>
                  </a:txBody>
                  <a:tcPr anchor="ctr"/>
                </a:tc>
                <a:tc>
                  <a:txBody>
                    <a:bodyPr/>
                    <a:lstStyle/>
                    <a:p>
                      <a:r>
                        <a:rPr lang="zh-CN" altLang="en-US" sz="1800" dirty="0"/>
                        <a:t>示例</a:t>
                      </a:r>
                      <a:endParaRPr lang="en-US" sz="1800" dirty="0"/>
                    </a:p>
                  </a:txBody>
                  <a:tcPr anchor="ctr"/>
                </a:tc>
                <a:tc>
                  <a:txBody>
                    <a:bodyPr/>
                    <a:lstStyle/>
                    <a:p>
                      <a:r>
                        <a:rPr lang="zh-CN" altLang="en-US" sz="1800" dirty="0"/>
                        <a:t>场景</a:t>
                      </a:r>
                      <a:endParaRPr lang="en-US" sz="1800" dirty="0"/>
                    </a:p>
                  </a:txBody>
                  <a:tcPr anchor="ctr"/>
                </a:tc>
                <a:extLst>
                  <a:ext uri="{0D108BD9-81ED-4DB2-BD59-A6C34878D82A}">
                    <a16:rowId xmlns:a16="http://schemas.microsoft.com/office/drawing/2014/main" val="3661027935"/>
                  </a:ext>
                </a:extLst>
              </a:tr>
              <a:tr h="10256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Identity</a:t>
                      </a:r>
                      <a:r>
                        <a:rPr lang="zh-CN" altLang="en-US" dirty="0"/>
                        <a:t>分区</a:t>
                      </a:r>
                      <a:endParaRPr lang="en-US" dirty="0"/>
                    </a:p>
                  </a:txBody>
                  <a:tcPr anchor="ctr"/>
                </a:tc>
                <a:tc>
                  <a:txBody>
                    <a:bodyPr/>
                    <a:lstStyle/>
                    <a:p>
                      <a:pPr algn="l"/>
                      <a:r>
                        <a:rPr lang="zh-CN" altLang="en-US" dirty="0"/>
                        <a:t>表中的原始列</a:t>
                      </a:r>
                      <a:r>
                        <a:rPr lang="en-US" altLang="zh-CN" dirty="0" err="1"/>
                        <a:t>event_date</a:t>
                      </a:r>
                      <a:endParaRPr lang="en-US" dirty="0"/>
                    </a:p>
                  </a:txBody>
                  <a:tcPr anchor="ctr"/>
                </a:tc>
                <a:tc>
                  <a:txBody>
                    <a:bodyPr/>
                    <a:lstStyle/>
                    <a:p>
                      <a:pPr algn="l"/>
                      <a:r>
                        <a:rPr lang="en-US" dirty="0" err="1"/>
                        <a:t>attr_vals</a:t>
                      </a:r>
                      <a:r>
                        <a:rPr lang="en-US" dirty="0"/>
                        <a:t>/data/</a:t>
                      </a:r>
                      <a:r>
                        <a:rPr lang="en-US" altLang="zh-CN" dirty="0" err="1"/>
                        <a:t>event_date</a:t>
                      </a:r>
                      <a:r>
                        <a:rPr lang="en-US" altLang="zh-CN" dirty="0"/>
                        <a:t>=2025-10-01</a:t>
                      </a:r>
                      <a:endParaRPr lang="en-US" dirty="0"/>
                    </a:p>
                  </a:txBody>
                  <a:tcPr anchor="ctr"/>
                </a:tc>
                <a:tc>
                  <a:txBody>
                    <a:bodyPr/>
                    <a:lstStyle/>
                    <a:p>
                      <a:pPr algn="l"/>
                      <a:r>
                        <a:rPr lang="en-US" dirty="0"/>
                        <a:t>Identity</a:t>
                      </a:r>
                    </a:p>
                  </a:txBody>
                  <a:tcPr anchor="ctr"/>
                </a:tc>
                <a:tc>
                  <a:txBody>
                    <a:bodyPr/>
                    <a:lstStyle/>
                    <a:p>
                      <a:pPr algn="l"/>
                      <a:r>
                        <a:rPr lang="en-US" altLang="zh-CN" dirty="0" err="1"/>
                        <a:t>event_date</a:t>
                      </a:r>
                      <a:endParaRPr lang="en-US" altLang="zh-CN" dirty="0"/>
                    </a:p>
                    <a:p>
                      <a:pPr algn="l"/>
                      <a:endParaRPr lang="en-US" dirty="0"/>
                    </a:p>
                    <a:p>
                      <a:pPr algn="l"/>
                      <a:r>
                        <a:rPr lang="zh-CN" altLang="en-US" dirty="0"/>
                        <a:t>按照</a:t>
                      </a:r>
                      <a:r>
                        <a:rPr lang="en-US" altLang="zh-CN" dirty="0" err="1"/>
                        <a:t>event_date</a:t>
                      </a:r>
                      <a:r>
                        <a:rPr lang="zh-CN" altLang="en-US" dirty="0"/>
                        <a:t>原始值分区</a:t>
                      </a:r>
                      <a:endParaRPr lang="en-US" dirty="0"/>
                    </a:p>
                  </a:txBody>
                  <a:tcPr anchor="ctr"/>
                </a:tc>
                <a:tc>
                  <a:txBody>
                    <a:bodyPr/>
                    <a:lstStyle/>
                    <a:p>
                      <a:pPr algn="l"/>
                      <a:r>
                        <a:rPr lang="zh-CN" altLang="en-US" dirty="0"/>
                        <a:t>低基数列</a:t>
                      </a:r>
                      <a:endParaRPr lang="en-US" altLang="zh-CN" dirty="0"/>
                    </a:p>
                    <a:p>
                      <a:pPr algn="l"/>
                      <a:r>
                        <a:rPr lang="en-US" altLang="zh-CN" dirty="0"/>
                        <a:t>Region</a:t>
                      </a:r>
                    </a:p>
                    <a:p>
                      <a:pPr algn="l"/>
                      <a:r>
                        <a:rPr lang="en-US" altLang="zh-CN" dirty="0"/>
                        <a:t>Department</a:t>
                      </a:r>
                    </a:p>
                    <a:p>
                      <a:pPr algn="l"/>
                      <a:r>
                        <a:rPr lang="en-US" altLang="zh-CN" dirty="0"/>
                        <a:t>Status</a:t>
                      </a:r>
                    </a:p>
                    <a:p>
                      <a:pPr algn="l"/>
                      <a:r>
                        <a:rPr lang="en-US" altLang="zh-CN" dirty="0"/>
                        <a:t>Product</a:t>
                      </a:r>
                    </a:p>
                  </a:txBody>
                  <a:tcPr anchor="ctr"/>
                </a:tc>
                <a:extLst>
                  <a:ext uri="{0D108BD9-81ED-4DB2-BD59-A6C34878D82A}">
                    <a16:rowId xmlns:a16="http://schemas.microsoft.com/office/drawing/2014/main" val="3535744519"/>
                  </a:ext>
                </a:extLst>
              </a:tr>
              <a:tr h="1324785">
                <a:tc row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dirty="0"/>
                        <a:t>非</a:t>
                      </a:r>
                      <a:r>
                        <a:rPr lang="en-US" altLang="zh-CN" dirty="0"/>
                        <a:t>identity</a:t>
                      </a:r>
                      <a:r>
                        <a:rPr lang="zh-CN" altLang="en-US" dirty="0"/>
                        <a:t>分区</a:t>
                      </a:r>
                      <a:endParaRPr lang="en-US" dirty="0"/>
                    </a:p>
                  </a:txBody>
                  <a:tcPr anchor="ctr"/>
                </a:tc>
                <a:tc row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CN" altLang="en-US" dirty="0"/>
                        <a:t>对原始列的加工</a:t>
                      </a:r>
                      <a:r>
                        <a:rPr lang="en-US" altLang="zh-CN" dirty="0"/>
                        <a:t>year(</a:t>
                      </a:r>
                      <a:r>
                        <a:rPr lang="en-US" altLang="zh-CN" dirty="0" err="1"/>
                        <a:t>event_date</a:t>
                      </a:r>
                      <a:r>
                        <a:rPr lang="en-US" altLang="zh-CN" dirty="0"/>
                        <a:t>)</a:t>
                      </a:r>
                      <a:endParaRPr lang="en-US" dirty="0"/>
                    </a:p>
                  </a:txBody>
                  <a:tcPr anchor="ctr"/>
                </a:tc>
                <a:tc row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err="1"/>
                        <a:t>attr_vals</a:t>
                      </a:r>
                      <a:r>
                        <a:rPr lang="en-US" dirty="0"/>
                        <a:t>/data/</a:t>
                      </a:r>
                      <a:r>
                        <a:rPr lang="en-US" altLang="zh-CN" dirty="0" err="1"/>
                        <a:t>event_date_year</a:t>
                      </a:r>
                      <a:r>
                        <a:rPr lang="en-US" altLang="zh-CN" dirty="0"/>
                        <a:t>=2025</a:t>
                      </a:r>
                      <a:endParaRPr lang="en-US" dirty="0"/>
                    </a:p>
                  </a:txBody>
                  <a:tcPr anchor="ctr"/>
                </a:tc>
                <a:tc>
                  <a:txBody>
                    <a:bodyPr/>
                    <a:lstStyle/>
                    <a:p>
                      <a:pPr algn="l"/>
                      <a:r>
                        <a:rPr lang="en-US" dirty="0"/>
                        <a:t>Bucket</a:t>
                      </a:r>
                    </a:p>
                  </a:txBody>
                  <a:tcPr anchor="ctr"/>
                </a:tc>
                <a:tc>
                  <a:txBody>
                    <a:bodyPr/>
                    <a:lstStyle/>
                    <a:p>
                      <a:pPr algn="l"/>
                      <a:r>
                        <a:rPr lang="en-US" dirty="0"/>
                        <a:t>Bucket(serial_num,,16)</a:t>
                      </a:r>
                    </a:p>
                    <a:p>
                      <a:pPr algn="l"/>
                      <a:endParaRPr lang="en-US" dirty="0"/>
                    </a:p>
                    <a:p>
                      <a:pPr algn="l"/>
                      <a:r>
                        <a:rPr lang="zh-CN" altLang="en-US" dirty="0"/>
                        <a:t>根据</a:t>
                      </a:r>
                      <a:r>
                        <a:rPr lang="en-US" altLang="zh-CN" dirty="0" err="1"/>
                        <a:t>serial_num</a:t>
                      </a:r>
                      <a:r>
                        <a:rPr lang="zh-CN" altLang="en-US" dirty="0"/>
                        <a:t>做</a:t>
                      </a:r>
                      <a:r>
                        <a:rPr lang="en-US" altLang="zh-CN" dirty="0"/>
                        <a:t>hash</a:t>
                      </a:r>
                      <a:r>
                        <a:rPr lang="zh-CN" altLang="en-US" dirty="0"/>
                        <a:t>分成</a:t>
                      </a:r>
                      <a:r>
                        <a:rPr lang="en-US" altLang="zh-CN" dirty="0"/>
                        <a:t>16</a:t>
                      </a:r>
                      <a:r>
                        <a:rPr lang="zh-CN" altLang="en-US" dirty="0"/>
                        <a:t>个桶</a:t>
                      </a:r>
                      <a:endParaRPr lang="en-US" dirty="0"/>
                    </a:p>
                  </a:txBody>
                  <a:tcPr anchor="ctr"/>
                </a:tc>
                <a:tc>
                  <a:txBody>
                    <a:bodyPr/>
                    <a:lstStyle/>
                    <a:p>
                      <a:pPr algn="l"/>
                      <a:r>
                        <a:rPr lang="zh-CN" altLang="en-US" dirty="0"/>
                        <a:t>高基数列</a:t>
                      </a:r>
                      <a:endParaRPr lang="en-US" altLang="zh-CN" dirty="0"/>
                    </a:p>
                    <a:p>
                      <a:pPr algn="l"/>
                      <a:r>
                        <a:rPr lang="en-US" altLang="zh-CN" dirty="0" err="1"/>
                        <a:t>User_id</a:t>
                      </a:r>
                      <a:endParaRPr lang="en-US" altLang="zh-CN" dirty="0"/>
                    </a:p>
                    <a:p>
                      <a:pPr algn="l"/>
                      <a:r>
                        <a:rPr lang="en-US" altLang="zh-CN" dirty="0" err="1"/>
                        <a:t>Order_id</a:t>
                      </a:r>
                      <a:endParaRPr lang="en-US" altLang="zh-CN" dirty="0"/>
                    </a:p>
                    <a:p>
                      <a:pPr algn="l"/>
                      <a:r>
                        <a:rPr lang="en-US" dirty="0" err="1"/>
                        <a:t>Serial_num</a:t>
                      </a:r>
                      <a:endParaRPr lang="en-US" dirty="0"/>
                    </a:p>
                  </a:txBody>
                  <a:tcPr anchor="ctr"/>
                </a:tc>
                <a:extLst>
                  <a:ext uri="{0D108BD9-81ED-4DB2-BD59-A6C34878D82A}">
                    <a16:rowId xmlns:a16="http://schemas.microsoft.com/office/drawing/2014/main" val="2157726813"/>
                  </a:ext>
                </a:extLst>
              </a:tr>
              <a:tr h="519942">
                <a:tc vMerge="1">
                  <a:txBody>
                    <a:bodyPr/>
                    <a:lstStyle/>
                    <a:p>
                      <a:endParaRPr lang="en-US"/>
                    </a:p>
                  </a:txBody>
                  <a:tcPr/>
                </a:tc>
                <a:tc vMerge="1">
                  <a:txBody>
                    <a:bodyPr/>
                    <a:lstStyle/>
                    <a:p>
                      <a:endParaRPr lang="en-US" dirty="0"/>
                    </a:p>
                  </a:txBody>
                  <a:tcPr/>
                </a:tc>
                <a:tc vMerge="1">
                  <a:txBody>
                    <a:bodyPr/>
                    <a:lstStyle/>
                    <a:p>
                      <a:endParaRPr lang="en-US"/>
                    </a:p>
                  </a:txBody>
                  <a:tcPr/>
                </a:tc>
                <a:tc>
                  <a:txBody>
                    <a:bodyPr/>
                    <a:lstStyle/>
                    <a:p>
                      <a:pPr algn="l"/>
                      <a:r>
                        <a:rPr lang="en-US" dirty="0"/>
                        <a:t>Truncate</a:t>
                      </a:r>
                    </a:p>
                  </a:txBody>
                  <a:tcPr anchor="ctr"/>
                </a:tc>
                <a:tc>
                  <a:txBody>
                    <a:bodyPr/>
                    <a:lstStyle/>
                    <a:p>
                      <a:pPr algn="l"/>
                      <a:r>
                        <a:rPr lang="en-US" dirty="0"/>
                        <a:t>Truncate(serial_num,3)</a:t>
                      </a:r>
                    </a:p>
                    <a:p>
                      <a:pPr algn="l"/>
                      <a:endParaRPr lang="en-US" dirty="0"/>
                    </a:p>
                    <a:p>
                      <a:pPr algn="l"/>
                      <a:r>
                        <a:rPr lang="zh-CN" altLang="en-US" dirty="0"/>
                        <a:t>根据</a:t>
                      </a:r>
                      <a:r>
                        <a:rPr lang="en-US" altLang="zh-CN" dirty="0" err="1"/>
                        <a:t>serial_num</a:t>
                      </a:r>
                      <a:r>
                        <a:rPr lang="zh-CN" altLang="en-US" dirty="0"/>
                        <a:t>前三位分区</a:t>
                      </a:r>
                      <a:endParaRPr lang="en-US" dirty="0"/>
                    </a:p>
                  </a:txBody>
                  <a:tcPr anchor="ctr"/>
                </a:tc>
                <a:tc>
                  <a:txBody>
                    <a:bodyPr/>
                    <a:lstStyle/>
                    <a:p>
                      <a:pPr algn="l"/>
                      <a:r>
                        <a:rPr lang="zh-CN" altLang="en-US" dirty="0"/>
                        <a:t>长字符串</a:t>
                      </a:r>
                      <a:endParaRPr lang="en-US" altLang="zh-CN" dirty="0"/>
                    </a:p>
                    <a:p>
                      <a:pPr algn="l"/>
                      <a:r>
                        <a:rPr lang="en-US" altLang="zh-CN" dirty="0" err="1"/>
                        <a:t>Url</a:t>
                      </a:r>
                      <a:endParaRPr lang="en-US" altLang="zh-CN" dirty="0"/>
                    </a:p>
                    <a:p>
                      <a:pPr algn="l"/>
                      <a:r>
                        <a:rPr lang="en-US" altLang="zh-CN" dirty="0" err="1"/>
                        <a:t>File_path</a:t>
                      </a:r>
                      <a:endParaRPr lang="en-US" altLang="zh-CN" dirty="0"/>
                    </a:p>
                  </a:txBody>
                  <a:tcPr anchor="ctr"/>
                </a:tc>
                <a:extLst>
                  <a:ext uri="{0D108BD9-81ED-4DB2-BD59-A6C34878D82A}">
                    <a16:rowId xmlns:a16="http://schemas.microsoft.com/office/drawing/2014/main" val="818768239"/>
                  </a:ext>
                </a:extLst>
              </a:tr>
              <a:tr h="726495">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pPr algn="l"/>
                      <a:r>
                        <a:rPr lang="en-US" dirty="0"/>
                        <a:t>Year</a:t>
                      </a:r>
                    </a:p>
                    <a:p>
                      <a:pPr algn="l"/>
                      <a:r>
                        <a:rPr lang="en-US" dirty="0"/>
                        <a:t>Month</a:t>
                      </a:r>
                    </a:p>
                    <a:p>
                      <a:pPr algn="l"/>
                      <a:r>
                        <a:rPr lang="en-US" dirty="0"/>
                        <a:t>Day</a:t>
                      </a:r>
                    </a:p>
                    <a:p>
                      <a:pPr algn="l"/>
                      <a:r>
                        <a:rPr lang="en-US" dirty="0"/>
                        <a:t>Hour</a:t>
                      </a:r>
                    </a:p>
                  </a:txBody>
                  <a:tcPr anchor="ctr"/>
                </a:tc>
                <a:tc>
                  <a:txBody>
                    <a:bodyPr/>
                    <a:lstStyle/>
                    <a:p>
                      <a:pPr algn="l"/>
                      <a:r>
                        <a:rPr lang="en-US" altLang="zh-CN" dirty="0"/>
                        <a:t>Year(</a:t>
                      </a:r>
                      <a:r>
                        <a:rPr lang="en-US" altLang="zh-CN" dirty="0" err="1"/>
                        <a:t>event_date</a:t>
                      </a:r>
                      <a:r>
                        <a:rPr lang="en-US" altLang="zh-CN" dirty="0"/>
                        <a:t>)</a:t>
                      </a:r>
                    </a:p>
                    <a:p>
                      <a:pPr algn="l"/>
                      <a:r>
                        <a:rPr lang="en-US" dirty="0"/>
                        <a:t>(</a:t>
                      </a:r>
                      <a:r>
                        <a:rPr lang="zh-CN" altLang="en-US" dirty="0"/>
                        <a:t>必须为时间类型</a:t>
                      </a:r>
                      <a:r>
                        <a:rPr lang="en-US" dirty="0"/>
                        <a:t>)</a:t>
                      </a:r>
                    </a:p>
                  </a:txBody>
                  <a:tcPr anchor="ctr"/>
                </a:tc>
                <a:tc>
                  <a:txBody>
                    <a:bodyPr/>
                    <a:lstStyle/>
                    <a:p>
                      <a:pPr algn="l"/>
                      <a:r>
                        <a:rPr lang="zh-CN" altLang="en-US" dirty="0"/>
                        <a:t>时间列</a:t>
                      </a:r>
                      <a:endParaRPr lang="en-US" altLang="zh-CN" dirty="0"/>
                    </a:p>
                    <a:p>
                      <a:pPr algn="l"/>
                      <a:endParaRPr lang="en-US" dirty="0"/>
                    </a:p>
                  </a:txBody>
                  <a:tcPr anchor="ctr"/>
                </a:tc>
                <a:extLst>
                  <a:ext uri="{0D108BD9-81ED-4DB2-BD59-A6C34878D82A}">
                    <a16:rowId xmlns:a16="http://schemas.microsoft.com/office/drawing/2014/main" val="5604174"/>
                  </a:ext>
                </a:extLst>
              </a:tr>
            </a:tbl>
          </a:graphicData>
        </a:graphic>
      </p:graphicFrame>
      <p:sp>
        <p:nvSpPr>
          <p:cNvPr id="6" name="Google Shape;19;p3">
            <a:extLst>
              <a:ext uri="{FF2B5EF4-FFF2-40B4-BE49-F238E27FC236}">
                <a16:creationId xmlns:a16="http://schemas.microsoft.com/office/drawing/2014/main" id="{A8C65219-C0C8-81BC-B997-D41F39041B49}"/>
              </a:ext>
            </a:extLst>
          </p:cNvPr>
          <p:cNvSpPr txBox="1">
            <a:spLocks/>
          </p:cNvSpPr>
          <p:nvPr/>
        </p:nvSpPr>
        <p:spPr>
          <a:xfrm>
            <a:off x="606402" y="1030658"/>
            <a:ext cx="11416858" cy="68841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zh-CN" altLang="en-US" sz="2000" dirty="0">
                <a:solidFill>
                  <a:schemeClr val="tx1"/>
                </a:solidFill>
              </a:rPr>
              <a:t>隐藏分区类型</a:t>
            </a:r>
            <a:endParaRPr lang="en-US" altLang="zh-CN" sz="2000" dirty="0">
              <a:solidFill>
                <a:schemeClr val="tx1"/>
              </a:solidFill>
            </a:endParaRPr>
          </a:p>
        </p:txBody>
      </p:sp>
    </p:spTree>
    <p:extLst>
      <p:ext uri="{BB962C8B-B14F-4D97-AF65-F5344CB8AC3E}">
        <p14:creationId xmlns:p14="http://schemas.microsoft.com/office/powerpoint/2010/main" val="1377606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12C1E-6510-4A08-F2EC-84F24FFCE134}"/>
            </a:ext>
          </a:extLst>
        </p:cNvPr>
        <p:cNvGrpSpPr/>
        <p:nvPr/>
      </p:nvGrpSpPr>
      <p:grpSpPr>
        <a:xfrm>
          <a:off x="0" y="0"/>
          <a:ext cx="0" cy="0"/>
          <a:chOff x="0" y="0"/>
          <a:chExt cx="0" cy="0"/>
        </a:xfrm>
      </p:grpSpPr>
      <p:sp>
        <p:nvSpPr>
          <p:cNvPr id="12" name="Google Shape;19;p3">
            <a:extLst>
              <a:ext uri="{FF2B5EF4-FFF2-40B4-BE49-F238E27FC236}">
                <a16:creationId xmlns:a16="http://schemas.microsoft.com/office/drawing/2014/main" id="{CC6375B2-483E-9BF7-0FFC-47856029AF10}"/>
              </a:ext>
            </a:extLst>
          </p:cNvPr>
          <p:cNvSpPr txBox="1">
            <a:spLocks/>
          </p:cNvSpPr>
          <p:nvPr/>
        </p:nvSpPr>
        <p:spPr>
          <a:xfrm>
            <a:off x="533400" y="1047193"/>
            <a:ext cx="11416858" cy="534408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Ø"/>
            </a:pPr>
            <a:r>
              <a:rPr lang="en-US" altLang="zh-CN" sz="2000" dirty="0">
                <a:solidFill>
                  <a:schemeClr val="tx1"/>
                </a:solidFill>
              </a:rPr>
              <a:t>Truncate</a:t>
            </a:r>
            <a:r>
              <a:rPr lang="zh-CN" altLang="en-US" sz="2000" dirty="0">
                <a:solidFill>
                  <a:schemeClr val="tx1"/>
                </a:solidFill>
              </a:rPr>
              <a:t>分区示例</a:t>
            </a:r>
            <a:endParaRPr lang="en-US" altLang="zh-CN" sz="2000" dirty="0">
              <a:solidFill>
                <a:schemeClr val="tx1"/>
              </a:solidFill>
            </a:endParaRPr>
          </a:p>
          <a:p>
            <a:endParaRPr lang="en-US" altLang="zh-CN" sz="2000" dirty="0">
              <a:solidFill>
                <a:schemeClr val="tx1"/>
              </a:solidFill>
            </a:endParaRPr>
          </a:p>
          <a:p>
            <a:r>
              <a:rPr lang="zh-CN" altLang="en-US" sz="2000" dirty="0">
                <a:solidFill>
                  <a:schemeClr val="tx1"/>
                </a:solidFill>
              </a:rPr>
              <a:t>在三级分区下创建基于</a:t>
            </a:r>
            <a:r>
              <a:rPr lang="en-US" altLang="zh-CN" sz="2000" dirty="0" err="1">
                <a:solidFill>
                  <a:schemeClr val="tx1"/>
                </a:solidFill>
              </a:rPr>
              <a:t>serial_num</a:t>
            </a:r>
            <a:r>
              <a:rPr lang="zh-CN" altLang="en-US" sz="2000" dirty="0">
                <a:solidFill>
                  <a:schemeClr val="tx1"/>
                </a:solidFill>
              </a:rPr>
              <a:t>前三位的分区</a:t>
            </a:r>
            <a:endParaRPr lang="en-US" altLang="zh-CN" sz="2000" dirty="0">
              <a:solidFill>
                <a:schemeClr val="tx1"/>
              </a:solidFill>
            </a:endParaRPr>
          </a:p>
          <a:p>
            <a:pPr marL="285750" indent="-285750">
              <a:buFont typeface="Wingdings" panose="05000000000000000000" pitchFamily="2" charset="2"/>
              <a:buChar char="Ø"/>
            </a:pPr>
            <a:endParaRPr lang="en-US" altLang="zh-CN" sz="1400" dirty="0">
              <a:solidFill>
                <a:schemeClr val="tx1"/>
              </a:solidFill>
            </a:endParaRPr>
          </a:p>
          <a:p>
            <a:r>
              <a:rPr lang="en-US" sz="1400" dirty="0">
                <a:solidFill>
                  <a:schemeClr val="tx1"/>
                </a:solidFill>
              </a:rPr>
              <a:t>CREATE TABLE icebergrestbk5.summit.attr_vals (</a:t>
            </a:r>
          </a:p>
          <a:p>
            <a:r>
              <a:rPr lang="en-US" sz="1400" dirty="0" err="1">
                <a:solidFill>
                  <a:schemeClr val="tx1"/>
                </a:solidFill>
              </a:rPr>
              <a:t>serial_num</a:t>
            </a:r>
            <a:r>
              <a:rPr lang="en-US" sz="1400" dirty="0">
                <a:solidFill>
                  <a:schemeClr val="tx1"/>
                </a:solidFill>
              </a:rPr>
              <a:t> varchar,</a:t>
            </a:r>
          </a:p>
          <a:p>
            <a:r>
              <a:rPr lang="en-US" sz="1400" dirty="0" err="1">
                <a:solidFill>
                  <a:schemeClr val="tx1"/>
                </a:solidFill>
              </a:rPr>
              <a:t>trans_seq</a:t>
            </a:r>
            <a:r>
              <a:rPr lang="en-US" sz="1400" dirty="0">
                <a:solidFill>
                  <a:schemeClr val="tx1"/>
                </a:solidFill>
              </a:rPr>
              <a:t> varchar,</a:t>
            </a:r>
          </a:p>
          <a:p>
            <a:r>
              <a:rPr lang="en-US" sz="1400" dirty="0">
                <a:solidFill>
                  <a:schemeClr val="tx1"/>
                </a:solidFill>
              </a:rPr>
              <a:t>seq varchar,</a:t>
            </a:r>
          </a:p>
          <a:p>
            <a:r>
              <a:rPr lang="en-US" sz="1400" dirty="0">
                <a:solidFill>
                  <a:schemeClr val="tx1"/>
                </a:solidFill>
              </a:rPr>
              <a:t>……</a:t>
            </a:r>
          </a:p>
          <a:p>
            <a:r>
              <a:rPr lang="en-US" sz="1400" dirty="0" err="1">
                <a:solidFill>
                  <a:schemeClr val="tx1"/>
                </a:solidFill>
              </a:rPr>
              <a:t>drive_event_date</a:t>
            </a:r>
            <a:r>
              <a:rPr lang="en-US" sz="1400" dirty="0">
                <a:solidFill>
                  <a:schemeClr val="tx1"/>
                </a:solidFill>
              </a:rPr>
              <a:t> varchar,</a:t>
            </a:r>
          </a:p>
          <a:p>
            <a:r>
              <a:rPr lang="en-US" sz="1400" dirty="0" err="1">
                <a:solidFill>
                  <a:schemeClr val="tx1"/>
                </a:solidFill>
              </a:rPr>
              <a:t>fail_code</a:t>
            </a:r>
            <a:r>
              <a:rPr lang="en-US" sz="1400" dirty="0">
                <a:solidFill>
                  <a:schemeClr val="tx1"/>
                </a:solidFill>
              </a:rPr>
              <a:t> varchar,</a:t>
            </a:r>
          </a:p>
          <a:p>
            <a:r>
              <a:rPr lang="en-US" sz="1400" dirty="0" err="1">
                <a:solidFill>
                  <a:schemeClr val="tx1"/>
                </a:solidFill>
              </a:rPr>
              <a:t>event_date</a:t>
            </a:r>
            <a:r>
              <a:rPr lang="en-US" sz="1400" dirty="0">
                <a:solidFill>
                  <a:schemeClr val="tx1"/>
                </a:solidFill>
              </a:rPr>
              <a:t> varchar,</a:t>
            </a:r>
          </a:p>
          <a:p>
            <a:r>
              <a:rPr lang="en-US" sz="1400" dirty="0">
                <a:solidFill>
                  <a:schemeClr val="tx1"/>
                </a:solidFill>
              </a:rPr>
              <a:t>family varchar,</a:t>
            </a:r>
          </a:p>
          <a:p>
            <a:r>
              <a:rPr lang="en-US" sz="1400" dirty="0">
                <a:solidFill>
                  <a:schemeClr val="tx1"/>
                </a:solidFill>
              </a:rPr>
              <a:t>operation varchar</a:t>
            </a:r>
          </a:p>
          <a:p>
            <a:r>
              <a:rPr lang="en-US" sz="1400" dirty="0">
                <a:solidFill>
                  <a:schemeClr val="tx1"/>
                </a:solidFill>
              </a:rPr>
              <a:t>)</a:t>
            </a:r>
          </a:p>
          <a:p>
            <a:r>
              <a:rPr lang="en-US" sz="1400" dirty="0">
                <a:solidFill>
                  <a:schemeClr val="tx1"/>
                </a:solidFill>
              </a:rPr>
              <a:t>WITH (</a:t>
            </a:r>
          </a:p>
          <a:p>
            <a:r>
              <a:rPr lang="en-US" sz="1400" dirty="0" err="1">
                <a:solidFill>
                  <a:schemeClr val="tx1"/>
                </a:solidFill>
              </a:rPr>
              <a:t>compression_codec</a:t>
            </a:r>
            <a:r>
              <a:rPr lang="en-US" sz="1400" dirty="0">
                <a:solidFill>
                  <a:schemeClr val="tx1"/>
                </a:solidFill>
              </a:rPr>
              <a:t> = 'ZSTD',</a:t>
            </a:r>
          </a:p>
          <a:p>
            <a:r>
              <a:rPr lang="en-US" sz="1400" dirty="0">
                <a:solidFill>
                  <a:schemeClr val="tx1"/>
                </a:solidFill>
              </a:rPr>
              <a:t>format = 'PARQUET',</a:t>
            </a:r>
          </a:p>
          <a:p>
            <a:r>
              <a:rPr lang="en-US" sz="1400" dirty="0" err="1">
                <a:solidFill>
                  <a:schemeClr val="tx1"/>
                </a:solidFill>
              </a:rPr>
              <a:t>format_version</a:t>
            </a:r>
            <a:r>
              <a:rPr lang="en-US" sz="1400" dirty="0">
                <a:solidFill>
                  <a:schemeClr val="tx1"/>
                </a:solidFill>
              </a:rPr>
              <a:t> = 2,</a:t>
            </a:r>
          </a:p>
          <a:p>
            <a:r>
              <a:rPr lang="en-US" sz="1400" dirty="0">
                <a:solidFill>
                  <a:schemeClr val="tx1"/>
                </a:solidFill>
              </a:rPr>
              <a:t>location = s3a://kor-gfit-dev-uss01/ice_warehouse_bk2/summit/attr_vals ',</a:t>
            </a:r>
          </a:p>
          <a:p>
            <a:r>
              <a:rPr lang="en-US" sz="1400" dirty="0">
                <a:solidFill>
                  <a:schemeClr val="tx1"/>
                </a:solidFill>
              </a:rPr>
              <a:t>partitioning = ARRAY['</a:t>
            </a:r>
            <a:r>
              <a:rPr lang="en-US" sz="1400" dirty="0" err="1">
                <a:solidFill>
                  <a:schemeClr val="tx1"/>
                </a:solidFill>
              </a:rPr>
              <a:t>event_date','family','operation',</a:t>
            </a:r>
            <a:r>
              <a:rPr lang="en-US" sz="1400" dirty="0" err="1">
                <a:solidFill>
                  <a:srgbClr val="FF0000"/>
                </a:solidFill>
              </a:rPr>
              <a:t>'truncate</a:t>
            </a:r>
            <a:r>
              <a:rPr lang="en-US" sz="1400" dirty="0">
                <a:solidFill>
                  <a:srgbClr val="FF0000"/>
                </a:solidFill>
              </a:rPr>
              <a:t>(</a:t>
            </a:r>
            <a:r>
              <a:rPr lang="en-US" sz="1400" dirty="0" err="1">
                <a:solidFill>
                  <a:srgbClr val="FF0000"/>
                </a:solidFill>
              </a:rPr>
              <a:t>serial_num</a:t>
            </a:r>
            <a:r>
              <a:rPr lang="en-US" sz="1400" dirty="0">
                <a:solidFill>
                  <a:srgbClr val="FF0000"/>
                </a:solidFill>
              </a:rPr>
              <a:t>, 3)']</a:t>
            </a:r>
          </a:p>
          <a:p>
            <a:r>
              <a:rPr lang="en-US" sz="1400" dirty="0">
                <a:solidFill>
                  <a:schemeClr val="tx1"/>
                </a:solidFill>
              </a:rPr>
              <a:t>)</a:t>
            </a:r>
          </a:p>
          <a:p>
            <a:endParaRPr lang="en-US" altLang="zh-CN" sz="1400" dirty="0">
              <a:solidFill>
                <a:schemeClr val="tx1"/>
              </a:solidFill>
            </a:endParaRPr>
          </a:p>
          <a:p>
            <a:endParaRPr lang="en-US" sz="1400" dirty="0">
              <a:solidFill>
                <a:schemeClr val="tx1"/>
              </a:solidFill>
            </a:endParaRPr>
          </a:p>
        </p:txBody>
      </p:sp>
      <p:sp>
        <p:nvSpPr>
          <p:cNvPr id="4" name="Google Shape;19;p3">
            <a:extLst>
              <a:ext uri="{FF2B5EF4-FFF2-40B4-BE49-F238E27FC236}">
                <a16:creationId xmlns:a16="http://schemas.microsoft.com/office/drawing/2014/main" id="{B886D50C-1FD7-B837-82A1-75F94DCE155A}"/>
              </a:ext>
            </a:extLst>
          </p:cNvPr>
          <p:cNvSpPr txBox="1">
            <a:spLocks noGrp="1"/>
          </p:cNvSpPr>
          <p:nvPr>
            <p:ph type="title"/>
          </p:nvPr>
        </p:nvSpPr>
        <p:spPr>
          <a:xfrm>
            <a:off x="533400" y="466725"/>
            <a:ext cx="11190288" cy="500063"/>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sz="2800" dirty="0"/>
              <a:t>Iceberg Hidden Partition – Test case</a:t>
            </a:r>
          </a:p>
        </p:txBody>
      </p:sp>
    </p:spTree>
    <p:extLst>
      <p:ext uri="{BB962C8B-B14F-4D97-AF65-F5344CB8AC3E}">
        <p14:creationId xmlns:p14="http://schemas.microsoft.com/office/powerpoint/2010/main" val="3665838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7267D-A35F-57F6-6B76-380C9CA977EC}"/>
            </a:ext>
          </a:extLst>
        </p:cNvPr>
        <p:cNvGrpSpPr/>
        <p:nvPr/>
      </p:nvGrpSpPr>
      <p:grpSpPr>
        <a:xfrm>
          <a:off x="0" y="0"/>
          <a:ext cx="0" cy="0"/>
          <a:chOff x="0" y="0"/>
          <a:chExt cx="0" cy="0"/>
        </a:xfrm>
      </p:grpSpPr>
      <p:sp>
        <p:nvSpPr>
          <p:cNvPr id="12" name="Google Shape;19;p3">
            <a:extLst>
              <a:ext uri="{FF2B5EF4-FFF2-40B4-BE49-F238E27FC236}">
                <a16:creationId xmlns:a16="http://schemas.microsoft.com/office/drawing/2014/main" id="{371FDF64-A6AA-804B-EAB4-B03E939F0B35}"/>
              </a:ext>
            </a:extLst>
          </p:cNvPr>
          <p:cNvSpPr txBox="1">
            <a:spLocks/>
          </p:cNvSpPr>
          <p:nvPr/>
        </p:nvSpPr>
        <p:spPr>
          <a:xfrm>
            <a:off x="533400" y="1047193"/>
            <a:ext cx="11416858" cy="67187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zh-CN" altLang="en-US" sz="1400" dirty="0">
                <a:solidFill>
                  <a:schemeClr val="tx1"/>
                </a:solidFill>
              </a:rPr>
              <a:t>元数据</a:t>
            </a:r>
            <a:r>
              <a:rPr lang="en-US" altLang="zh-CN" sz="1400" dirty="0" err="1">
                <a:solidFill>
                  <a:schemeClr val="tx1"/>
                </a:solidFill>
              </a:rPr>
              <a:t>json</a:t>
            </a:r>
            <a:r>
              <a:rPr lang="zh-CN" altLang="en-US" sz="1400" dirty="0">
                <a:solidFill>
                  <a:schemeClr val="tx1"/>
                </a:solidFill>
              </a:rPr>
              <a:t>中的分区信息，原分区三列类型为</a:t>
            </a:r>
            <a:r>
              <a:rPr lang="en-US" altLang="zh-CN" sz="1400" dirty="0">
                <a:solidFill>
                  <a:schemeClr val="tx1"/>
                </a:solidFill>
              </a:rPr>
              <a:t>identity</a:t>
            </a:r>
            <a:r>
              <a:rPr lang="zh-CN" altLang="en-US" sz="1400" dirty="0">
                <a:solidFill>
                  <a:schemeClr val="tx1"/>
                </a:solidFill>
              </a:rPr>
              <a:t>，</a:t>
            </a:r>
            <a:r>
              <a:rPr lang="en-US" altLang="zh-CN" sz="1400" dirty="0" err="1">
                <a:solidFill>
                  <a:schemeClr val="tx1"/>
                </a:solidFill>
              </a:rPr>
              <a:t>serial_num</a:t>
            </a:r>
            <a:r>
              <a:rPr lang="zh-CN" altLang="en-US" sz="1400" dirty="0">
                <a:solidFill>
                  <a:schemeClr val="tx1"/>
                </a:solidFill>
              </a:rPr>
              <a:t>分区类型为</a:t>
            </a:r>
            <a:r>
              <a:rPr lang="en-US" altLang="zh-CN" sz="1400" dirty="0">
                <a:solidFill>
                  <a:schemeClr val="tx1"/>
                </a:solidFill>
              </a:rPr>
              <a:t>truncate</a:t>
            </a:r>
          </a:p>
        </p:txBody>
      </p:sp>
      <p:sp>
        <p:nvSpPr>
          <p:cNvPr id="4" name="Google Shape;19;p3">
            <a:extLst>
              <a:ext uri="{FF2B5EF4-FFF2-40B4-BE49-F238E27FC236}">
                <a16:creationId xmlns:a16="http://schemas.microsoft.com/office/drawing/2014/main" id="{22367BE3-B09B-EFB8-950F-B9D33F171B5D}"/>
              </a:ext>
            </a:extLst>
          </p:cNvPr>
          <p:cNvSpPr txBox="1">
            <a:spLocks noGrp="1"/>
          </p:cNvSpPr>
          <p:nvPr>
            <p:ph type="title"/>
          </p:nvPr>
        </p:nvSpPr>
        <p:spPr>
          <a:xfrm>
            <a:off x="533400" y="466725"/>
            <a:ext cx="11190288" cy="500063"/>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sz="2800" dirty="0"/>
              <a:t>Iceberg Hidden Partition – Test case</a:t>
            </a:r>
          </a:p>
        </p:txBody>
      </p:sp>
      <p:pic>
        <p:nvPicPr>
          <p:cNvPr id="3" name="Picture 2">
            <a:extLst>
              <a:ext uri="{FF2B5EF4-FFF2-40B4-BE49-F238E27FC236}">
                <a16:creationId xmlns:a16="http://schemas.microsoft.com/office/drawing/2014/main" id="{898114F2-4DDE-A62D-6843-735003148FD9}"/>
              </a:ext>
            </a:extLst>
          </p:cNvPr>
          <p:cNvPicPr>
            <a:picLocks noChangeAspect="1"/>
          </p:cNvPicPr>
          <p:nvPr/>
        </p:nvPicPr>
        <p:blipFill>
          <a:blip r:embed="rId2"/>
          <a:stretch>
            <a:fillRect/>
          </a:stretch>
        </p:blipFill>
        <p:spPr>
          <a:xfrm>
            <a:off x="533400" y="1817765"/>
            <a:ext cx="2867025" cy="3943350"/>
          </a:xfrm>
          <a:prstGeom prst="rect">
            <a:avLst/>
          </a:prstGeom>
        </p:spPr>
      </p:pic>
    </p:spTree>
    <p:extLst>
      <p:ext uri="{BB962C8B-B14F-4D97-AF65-F5344CB8AC3E}">
        <p14:creationId xmlns:p14="http://schemas.microsoft.com/office/powerpoint/2010/main" val="2872340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3D654-70A8-8E5C-20A3-4C5BD8AA7017}"/>
            </a:ext>
          </a:extLst>
        </p:cNvPr>
        <p:cNvGrpSpPr/>
        <p:nvPr/>
      </p:nvGrpSpPr>
      <p:grpSpPr>
        <a:xfrm>
          <a:off x="0" y="0"/>
          <a:ext cx="0" cy="0"/>
          <a:chOff x="0" y="0"/>
          <a:chExt cx="0" cy="0"/>
        </a:xfrm>
      </p:grpSpPr>
      <p:sp>
        <p:nvSpPr>
          <p:cNvPr id="12" name="Google Shape;19;p3">
            <a:extLst>
              <a:ext uri="{FF2B5EF4-FFF2-40B4-BE49-F238E27FC236}">
                <a16:creationId xmlns:a16="http://schemas.microsoft.com/office/drawing/2014/main" id="{66835AC9-939D-E052-71C9-A40569969548}"/>
              </a:ext>
            </a:extLst>
          </p:cNvPr>
          <p:cNvSpPr txBox="1">
            <a:spLocks/>
          </p:cNvSpPr>
          <p:nvPr/>
        </p:nvSpPr>
        <p:spPr>
          <a:xfrm>
            <a:off x="565780" y="1023111"/>
            <a:ext cx="10895650" cy="128873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zh-CN" altLang="en-US" sz="2000" dirty="0">
                <a:solidFill>
                  <a:schemeClr val="tx1"/>
                </a:solidFill>
              </a:rPr>
              <a:t>插入一条数据后</a:t>
            </a:r>
            <a:endParaRPr lang="en-US" altLang="zh-CN" sz="2000" dirty="0">
              <a:solidFill>
                <a:schemeClr val="tx1"/>
              </a:solidFill>
            </a:endParaRPr>
          </a:p>
          <a:p>
            <a:endParaRPr lang="en-US" sz="2000" dirty="0">
              <a:solidFill>
                <a:schemeClr val="tx1"/>
              </a:solidFill>
            </a:endParaRPr>
          </a:p>
          <a:p>
            <a:r>
              <a:rPr lang="en-US" altLang="zh-CN" sz="2000" dirty="0">
                <a:solidFill>
                  <a:schemeClr val="tx1"/>
                </a:solidFill>
              </a:rPr>
              <a:t>S3 data</a:t>
            </a:r>
            <a:r>
              <a:rPr lang="zh-CN" altLang="en-US" sz="2000" dirty="0">
                <a:solidFill>
                  <a:schemeClr val="tx1"/>
                </a:solidFill>
              </a:rPr>
              <a:t>目录结构，增加了</a:t>
            </a:r>
            <a:r>
              <a:rPr lang="en-US" altLang="zh-CN" sz="2000" dirty="0" err="1">
                <a:solidFill>
                  <a:schemeClr val="tx1"/>
                </a:solidFill>
              </a:rPr>
              <a:t>serial_num_trunc</a:t>
            </a:r>
            <a:r>
              <a:rPr lang="en-US" altLang="zh-CN" sz="2000" dirty="0">
                <a:solidFill>
                  <a:schemeClr val="tx1"/>
                </a:solidFill>
              </a:rPr>
              <a:t>=</a:t>
            </a:r>
            <a:r>
              <a:rPr lang="en-US" altLang="zh-CN" sz="2000" dirty="0" err="1">
                <a:solidFill>
                  <a:schemeClr val="tx1"/>
                </a:solidFill>
              </a:rPr>
              <a:t>aaa</a:t>
            </a:r>
            <a:r>
              <a:rPr lang="zh-CN" altLang="en-US" sz="2000" dirty="0">
                <a:solidFill>
                  <a:schemeClr val="tx1"/>
                </a:solidFill>
              </a:rPr>
              <a:t>的分区</a:t>
            </a:r>
            <a:endParaRPr lang="en-US" altLang="zh-CN" sz="2000" dirty="0">
              <a:solidFill>
                <a:schemeClr val="tx1"/>
              </a:solidFill>
            </a:endParaRPr>
          </a:p>
          <a:p>
            <a:endParaRPr lang="en-US" sz="2000" dirty="0">
              <a:solidFill>
                <a:schemeClr val="tx1"/>
              </a:solidFill>
            </a:endParaRPr>
          </a:p>
        </p:txBody>
      </p:sp>
      <p:sp>
        <p:nvSpPr>
          <p:cNvPr id="6" name="Google Shape;19;p3">
            <a:extLst>
              <a:ext uri="{FF2B5EF4-FFF2-40B4-BE49-F238E27FC236}">
                <a16:creationId xmlns:a16="http://schemas.microsoft.com/office/drawing/2014/main" id="{823F414B-75F7-4FA7-F6DC-C77DE461954B}"/>
              </a:ext>
            </a:extLst>
          </p:cNvPr>
          <p:cNvSpPr txBox="1">
            <a:spLocks noGrp="1"/>
          </p:cNvSpPr>
          <p:nvPr>
            <p:ph type="title"/>
          </p:nvPr>
        </p:nvSpPr>
        <p:spPr>
          <a:xfrm>
            <a:off x="533400" y="466725"/>
            <a:ext cx="11190288" cy="500063"/>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sz="2800" dirty="0"/>
              <a:t>Iceberg Hidden Partition</a:t>
            </a:r>
            <a:r>
              <a:rPr lang="en-US" altLang="zh-CN" dirty="0"/>
              <a:t> – Test case</a:t>
            </a:r>
            <a:endParaRPr lang="en-US" altLang="zh-CN" sz="2800" dirty="0"/>
          </a:p>
        </p:txBody>
      </p:sp>
      <p:pic>
        <p:nvPicPr>
          <p:cNvPr id="3" name="Picture 2">
            <a:extLst>
              <a:ext uri="{FF2B5EF4-FFF2-40B4-BE49-F238E27FC236}">
                <a16:creationId xmlns:a16="http://schemas.microsoft.com/office/drawing/2014/main" id="{B335F5F3-9388-2602-FC17-CEFBB4FC9808}"/>
              </a:ext>
            </a:extLst>
          </p:cNvPr>
          <p:cNvPicPr>
            <a:picLocks noChangeAspect="1"/>
          </p:cNvPicPr>
          <p:nvPr/>
        </p:nvPicPr>
        <p:blipFill>
          <a:blip r:embed="rId2"/>
          <a:stretch>
            <a:fillRect/>
          </a:stretch>
        </p:blipFill>
        <p:spPr>
          <a:xfrm>
            <a:off x="679605" y="2208276"/>
            <a:ext cx="10668000" cy="1600200"/>
          </a:xfrm>
          <a:prstGeom prst="rect">
            <a:avLst/>
          </a:prstGeom>
        </p:spPr>
      </p:pic>
    </p:spTree>
    <p:extLst>
      <p:ext uri="{BB962C8B-B14F-4D97-AF65-F5344CB8AC3E}">
        <p14:creationId xmlns:p14="http://schemas.microsoft.com/office/powerpoint/2010/main" val="3798523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40A5B-1EA8-32BF-199E-135C5AE06C5D}"/>
            </a:ext>
          </a:extLst>
        </p:cNvPr>
        <p:cNvGrpSpPr/>
        <p:nvPr/>
      </p:nvGrpSpPr>
      <p:grpSpPr>
        <a:xfrm>
          <a:off x="0" y="0"/>
          <a:ext cx="0" cy="0"/>
          <a:chOff x="0" y="0"/>
          <a:chExt cx="0" cy="0"/>
        </a:xfrm>
      </p:grpSpPr>
      <p:sp>
        <p:nvSpPr>
          <p:cNvPr id="12" name="Google Shape;19;p3">
            <a:extLst>
              <a:ext uri="{FF2B5EF4-FFF2-40B4-BE49-F238E27FC236}">
                <a16:creationId xmlns:a16="http://schemas.microsoft.com/office/drawing/2014/main" id="{5A5A6B73-221E-007C-0103-5741EAF69C20}"/>
              </a:ext>
            </a:extLst>
          </p:cNvPr>
          <p:cNvSpPr txBox="1">
            <a:spLocks/>
          </p:cNvSpPr>
          <p:nvPr/>
        </p:nvSpPr>
        <p:spPr>
          <a:xfrm>
            <a:off x="565780" y="1023111"/>
            <a:ext cx="10895650" cy="622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ltLang="zh-CN" sz="2000" dirty="0">
                <a:solidFill>
                  <a:schemeClr val="tx1"/>
                </a:solidFill>
              </a:rPr>
              <a:t>Iceberg</a:t>
            </a:r>
            <a:r>
              <a:rPr lang="zh-CN" altLang="en-US" sz="2000" dirty="0">
                <a:solidFill>
                  <a:schemeClr val="tx1"/>
                </a:solidFill>
              </a:rPr>
              <a:t>的元数据</a:t>
            </a:r>
            <a:r>
              <a:rPr lang="en-US" altLang="zh-CN" sz="2000" dirty="0">
                <a:solidFill>
                  <a:schemeClr val="tx1"/>
                </a:solidFill>
              </a:rPr>
              <a:t>manifest</a:t>
            </a:r>
            <a:r>
              <a:rPr lang="zh-CN" altLang="en-US" sz="2000" dirty="0">
                <a:solidFill>
                  <a:schemeClr val="tx1"/>
                </a:solidFill>
              </a:rPr>
              <a:t>中写入了</a:t>
            </a:r>
            <a:r>
              <a:rPr lang="en-US" altLang="zh-CN" sz="2000" dirty="0" err="1">
                <a:solidFill>
                  <a:schemeClr val="tx1"/>
                </a:solidFill>
              </a:rPr>
              <a:t>serial_num</a:t>
            </a:r>
            <a:r>
              <a:rPr lang="zh-CN" altLang="en-US" sz="2000" dirty="0">
                <a:solidFill>
                  <a:schemeClr val="tx1"/>
                </a:solidFill>
              </a:rPr>
              <a:t>分区信息</a:t>
            </a:r>
            <a:endParaRPr lang="en-US" sz="2000" dirty="0">
              <a:solidFill>
                <a:schemeClr val="tx1"/>
              </a:solidFill>
            </a:endParaRPr>
          </a:p>
        </p:txBody>
      </p:sp>
      <p:sp>
        <p:nvSpPr>
          <p:cNvPr id="6" name="Google Shape;19;p3">
            <a:extLst>
              <a:ext uri="{FF2B5EF4-FFF2-40B4-BE49-F238E27FC236}">
                <a16:creationId xmlns:a16="http://schemas.microsoft.com/office/drawing/2014/main" id="{FD71E8A2-DBE1-38C2-6CA2-84DF0E515F8D}"/>
              </a:ext>
            </a:extLst>
          </p:cNvPr>
          <p:cNvSpPr txBox="1">
            <a:spLocks noGrp="1"/>
          </p:cNvSpPr>
          <p:nvPr>
            <p:ph type="title"/>
          </p:nvPr>
        </p:nvSpPr>
        <p:spPr>
          <a:xfrm>
            <a:off x="533400" y="466725"/>
            <a:ext cx="11190288" cy="500063"/>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sz="2800" dirty="0"/>
              <a:t>Iceberg Hidden Partition</a:t>
            </a:r>
            <a:r>
              <a:rPr lang="en-US" altLang="zh-CN" dirty="0"/>
              <a:t> – Test case</a:t>
            </a:r>
            <a:endParaRPr lang="en-US" altLang="zh-CN" sz="2800" dirty="0"/>
          </a:p>
        </p:txBody>
      </p:sp>
      <p:pic>
        <p:nvPicPr>
          <p:cNvPr id="4" name="Picture 3">
            <a:extLst>
              <a:ext uri="{FF2B5EF4-FFF2-40B4-BE49-F238E27FC236}">
                <a16:creationId xmlns:a16="http://schemas.microsoft.com/office/drawing/2014/main" id="{1E709C17-A816-060A-AFD8-CC8514B1522B}"/>
              </a:ext>
            </a:extLst>
          </p:cNvPr>
          <p:cNvPicPr>
            <a:picLocks noChangeAspect="1"/>
          </p:cNvPicPr>
          <p:nvPr/>
        </p:nvPicPr>
        <p:blipFill>
          <a:blip r:embed="rId2"/>
          <a:stretch>
            <a:fillRect/>
          </a:stretch>
        </p:blipFill>
        <p:spPr>
          <a:xfrm>
            <a:off x="565780" y="1702243"/>
            <a:ext cx="2752725" cy="3600450"/>
          </a:xfrm>
          <a:prstGeom prst="rect">
            <a:avLst/>
          </a:prstGeom>
        </p:spPr>
      </p:pic>
    </p:spTree>
    <p:extLst>
      <p:ext uri="{BB962C8B-B14F-4D97-AF65-F5344CB8AC3E}">
        <p14:creationId xmlns:p14="http://schemas.microsoft.com/office/powerpoint/2010/main" val="400420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1F54D-CA5F-59C9-C15E-4060AAAB38C1}"/>
            </a:ext>
          </a:extLst>
        </p:cNvPr>
        <p:cNvGrpSpPr/>
        <p:nvPr/>
      </p:nvGrpSpPr>
      <p:grpSpPr>
        <a:xfrm>
          <a:off x="0" y="0"/>
          <a:ext cx="0" cy="0"/>
          <a:chOff x="0" y="0"/>
          <a:chExt cx="0" cy="0"/>
        </a:xfrm>
      </p:grpSpPr>
      <p:sp>
        <p:nvSpPr>
          <p:cNvPr id="12" name="Google Shape;19;p3">
            <a:extLst>
              <a:ext uri="{FF2B5EF4-FFF2-40B4-BE49-F238E27FC236}">
                <a16:creationId xmlns:a16="http://schemas.microsoft.com/office/drawing/2014/main" id="{1FBF22B2-4FD3-086D-8959-114AB64EC6AB}"/>
              </a:ext>
            </a:extLst>
          </p:cNvPr>
          <p:cNvSpPr txBox="1">
            <a:spLocks/>
          </p:cNvSpPr>
          <p:nvPr/>
        </p:nvSpPr>
        <p:spPr>
          <a:xfrm>
            <a:off x="565780" y="1023112"/>
            <a:ext cx="10895650" cy="64789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zh-CN" altLang="en-US" sz="2000" dirty="0">
                <a:solidFill>
                  <a:schemeClr val="tx1"/>
                </a:solidFill>
              </a:rPr>
              <a:t>再插入</a:t>
            </a:r>
            <a:r>
              <a:rPr lang="en-US" altLang="zh-CN" sz="2000" dirty="0">
                <a:solidFill>
                  <a:schemeClr val="tx1"/>
                </a:solidFill>
              </a:rPr>
              <a:t>3</a:t>
            </a:r>
            <a:r>
              <a:rPr lang="zh-CN" altLang="en-US" sz="2000" dirty="0">
                <a:solidFill>
                  <a:schemeClr val="tx1"/>
                </a:solidFill>
              </a:rPr>
              <a:t>条数据后</a:t>
            </a:r>
            <a:endParaRPr lang="en-US" sz="2000" dirty="0">
              <a:solidFill>
                <a:schemeClr val="tx1"/>
              </a:solidFill>
            </a:endParaRPr>
          </a:p>
        </p:txBody>
      </p:sp>
      <p:sp>
        <p:nvSpPr>
          <p:cNvPr id="6" name="Google Shape;19;p3">
            <a:extLst>
              <a:ext uri="{FF2B5EF4-FFF2-40B4-BE49-F238E27FC236}">
                <a16:creationId xmlns:a16="http://schemas.microsoft.com/office/drawing/2014/main" id="{F89182C2-4CF7-3577-DFED-7CFCABAC806A}"/>
              </a:ext>
            </a:extLst>
          </p:cNvPr>
          <p:cNvSpPr txBox="1">
            <a:spLocks noGrp="1"/>
          </p:cNvSpPr>
          <p:nvPr>
            <p:ph type="title"/>
          </p:nvPr>
        </p:nvSpPr>
        <p:spPr>
          <a:xfrm>
            <a:off x="533400" y="466725"/>
            <a:ext cx="11190288" cy="500063"/>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sz="2800" dirty="0"/>
              <a:t>Iceberg Hidden Partition</a:t>
            </a:r>
            <a:r>
              <a:rPr lang="en-US" altLang="zh-CN" dirty="0"/>
              <a:t> – Test case</a:t>
            </a:r>
            <a:endParaRPr lang="en-US" altLang="zh-CN" sz="2800" dirty="0"/>
          </a:p>
        </p:txBody>
      </p:sp>
      <p:pic>
        <p:nvPicPr>
          <p:cNvPr id="7" name="Picture 6">
            <a:extLst>
              <a:ext uri="{FF2B5EF4-FFF2-40B4-BE49-F238E27FC236}">
                <a16:creationId xmlns:a16="http://schemas.microsoft.com/office/drawing/2014/main" id="{E5D62B52-2B3C-D41D-AF6A-830A53E88E4C}"/>
              </a:ext>
            </a:extLst>
          </p:cNvPr>
          <p:cNvPicPr>
            <a:picLocks noChangeAspect="1"/>
          </p:cNvPicPr>
          <p:nvPr/>
        </p:nvPicPr>
        <p:blipFill>
          <a:blip r:embed="rId2"/>
          <a:stretch>
            <a:fillRect/>
          </a:stretch>
        </p:blipFill>
        <p:spPr>
          <a:xfrm>
            <a:off x="5090856" y="1783650"/>
            <a:ext cx="6370574" cy="3480322"/>
          </a:xfrm>
          <a:prstGeom prst="rect">
            <a:avLst/>
          </a:prstGeom>
        </p:spPr>
      </p:pic>
      <p:pic>
        <p:nvPicPr>
          <p:cNvPr id="9" name="Picture 8">
            <a:extLst>
              <a:ext uri="{FF2B5EF4-FFF2-40B4-BE49-F238E27FC236}">
                <a16:creationId xmlns:a16="http://schemas.microsoft.com/office/drawing/2014/main" id="{EC42F297-E9D6-FB44-4438-31EA5FD9EDAB}"/>
              </a:ext>
            </a:extLst>
          </p:cNvPr>
          <p:cNvPicPr>
            <a:picLocks noChangeAspect="1"/>
          </p:cNvPicPr>
          <p:nvPr/>
        </p:nvPicPr>
        <p:blipFill>
          <a:blip r:embed="rId3"/>
          <a:stretch>
            <a:fillRect/>
          </a:stretch>
        </p:blipFill>
        <p:spPr>
          <a:xfrm>
            <a:off x="565780" y="1671001"/>
            <a:ext cx="3762375" cy="2019300"/>
          </a:xfrm>
          <a:prstGeom prst="rect">
            <a:avLst/>
          </a:prstGeom>
        </p:spPr>
      </p:pic>
      <p:sp>
        <p:nvSpPr>
          <p:cNvPr id="10" name="Google Shape;19;p3">
            <a:extLst>
              <a:ext uri="{FF2B5EF4-FFF2-40B4-BE49-F238E27FC236}">
                <a16:creationId xmlns:a16="http://schemas.microsoft.com/office/drawing/2014/main" id="{64B7BEFF-D3B8-494D-7892-606A6ECE252D}"/>
              </a:ext>
            </a:extLst>
          </p:cNvPr>
          <p:cNvSpPr txBox="1">
            <a:spLocks/>
          </p:cNvSpPr>
          <p:nvPr/>
        </p:nvSpPr>
        <p:spPr>
          <a:xfrm>
            <a:off x="5092060" y="1079436"/>
            <a:ext cx="4759076" cy="64789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zh-CN" altLang="en-US" sz="2000" dirty="0">
                <a:solidFill>
                  <a:schemeClr val="tx1"/>
                </a:solidFill>
              </a:rPr>
              <a:t>四次提交，四份</a:t>
            </a:r>
            <a:r>
              <a:rPr lang="en-US" altLang="zh-CN" sz="2000" dirty="0">
                <a:solidFill>
                  <a:schemeClr val="tx1"/>
                </a:solidFill>
              </a:rPr>
              <a:t>metadata</a:t>
            </a:r>
            <a:endParaRPr lang="en-US" sz="2000" dirty="0">
              <a:solidFill>
                <a:schemeClr val="tx1"/>
              </a:solidFill>
            </a:endParaRPr>
          </a:p>
        </p:txBody>
      </p:sp>
    </p:spTree>
    <p:extLst>
      <p:ext uri="{BB962C8B-B14F-4D97-AF65-F5344CB8AC3E}">
        <p14:creationId xmlns:p14="http://schemas.microsoft.com/office/powerpoint/2010/main" val="3867265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F7D5F-F853-182D-0B4E-94501BE473AE}"/>
            </a:ext>
          </a:extLst>
        </p:cNvPr>
        <p:cNvGrpSpPr/>
        <p:nvPr/>
      </p:nvGrpSpPr>
      <p:grpSpPr>
        <a:xfrm>
          <a:off x="0" y="0"/>
          <a:ext cx="0" cy="0"/>
          <a:chOff x="0" y="0"/>
          <a:chExt cx="0" cy="0"/>
        </a:xfrm>
      </p:grpSpPr>
      <p:sp>
        <p:nvSpPr>
          <p:cNvPr id="19" name="Google Shape;19;p3">
            <a:extLst>
              <a:ext uri="{FF2B5EF4-FFF2-40B4-BE49-F238E27FC236}">
                <a16:creationId xmlns:a16="http://schemas.microsoft.com/office/drawing/2014/main" id="{D3D69E00-AEB7-CBA4-AF67-76D10C2DA3EB}"/>
              </a:ext>
            </a:extLst>
          </p:cNvPr>
          <p:cNvSpPr txBox="1">
            <a:spLocks noGrp="1"/>
          </p:cNvSpPr>
          <p:nvPr>
            <p:ph type="title"/>
          </p:nvPr>
        </p:nvSpPr>
        <p:spPr>
          <a:xfrm>
            <a:off x="533250" y="467150"/>
            <a:ext cx="11190600" cy="4995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sz="2800" dirty="0"/>
              <a:t>Spark </a:t>
            </a:r>
            <a:r>
              <a:rPr lang="en-US" altLang="zh-CN" sz="2800" dirty="0" err="1"/>
              <a:t>Sql</a:t>
            </a:r>
            <a:r>
              <a:rPr lang="en-US" altLang="zh-CN" dirty="0"/>
              <a:t> Analyze</a:t>
            </a:r>
            <a:endParaRPr lang="en-US" altLang="zh-CN" sz="2800" dirty="0"/>
          </a:p>
        </p:txBody>
      </p:sp>
      <p:sp>
        <p:nvSpPr>
          <p:cNvPr id="7" name="Google Shape;19;p3">
            <a:extLst>
              <a:ext uri="{FF2B5EF4-FFF2-40B4-BE49-F238E27FC236}">
                <a16:creationId xmlns:a16="http://schemas.microsoft.com/office/drawing/2014/main" id="{F0C333A2-C715-FADE-1BA1-38C605945EF6}"/>
              </a:ext>
            </a:extLst>
          </p:cNvPr>
          <p:cNvSpPr txBox="1">
            <a:spLocks/>
          </p:cNvSpPr>
          <p:nvPr/>
        </p:nvSpPr>
        <p:spPr>
          <a:xfrm>
            <a:off x="954725" y="5947800"/>
            <a:ext cx="10658155" cy="499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zh-CN" altLang="en-US" sz="1600" dirty="0">
                <a:solidFill>
                  <a:schemeClr val="tx1"/>
                </a:solidFill>
              </a:rPr>
              <a:t>用</a:t>
            </a:r>
            <a:r>
              <a:rPr lang="en-US" altLang="zh-CN" sz="1600" dirty="0" err="1">
                <a:solidFill>
                  <a:schemeClr val="tx1"/>
                </a:solidFill>
              </a:rPr>
              <a:t>serial_num</a:t>
            </a:r>
            <a:r>
              <a:rPr lang="zh-CN" altLang="en-US" sz="1600" dirty="0">
                <a:solidFill>
                  <a:schemeClr val="tx1"/>
                </a:solidFill>
              </a:rPr>
              <a:t>过滤时，</a:t>
            </a:r>
            <a:r>
              <a:rPr lang="en-US" altLang="zh-CN" sz="1600" dirty="0">
                <a:solidFill>
                  <a:schemeClr val="tx1"/>
                </a:solidFill>
              </a:rPr>
              <a:t>iceberg</a:t>
            </a:r>
            <a:r>
              <a:rPr lang="zh-CN" altLang="en-US" sz="1600" dirty="0">
                <a:solidFill>
                  <a:schemeClr val="tx1"/>
                </a:solidFill>
              </a:rPr>
              <a:t>只扫描了</a:t>
            </a:r>
            <a:r>
              <a:rPr lang="en-US" altLang="zh-CN" sz="1600" dirty="0">
                <a:solidFill>
                  <a:schemeClr val="tx1"/>
                </a:solidFill>
              </a:rPr>
              <a:t>4</a:t>
            </a:r>
            <a:r>
              <a:rPr lang="zh-CN" altLang="en-US" sz="1600" dirty="0">
                <a:solidFill>
                  <a:schemeClr val="tx1"/>
                </a:solidFill>
              </a:rPr>
              <a:t>个</a:t>
            </a:r>
            <a:r>
              <a:rPr lang="en-US" altLang="zh-CN" sz="1600" dirty="0" err="1">
                <a:solidFill>
                  <a:schemeClr val="tx1"/>
                </a:solidFill>
              </a:rPr>
              <a:t>mainifest</a:t>
            </a:r>
            <a:r>
              <a:rPr lang="zh-CN" altLang="en-US" sz="1600" dirty="0">
                <a:solidFill>
                  <a:schemeClr val="tx1"/>
                </a:solidFill>
              </a:rPr>
              <a:t>文件中的</a:t>
            </a:r>
            <a:r>
              <a:rPr lang="en-US" altLang="zh-CN" sz="1600" dirty="0">
                <a:solidFill>
                  <a:schemeClr val="tx1"/>
                </a:solidFill>
              </a:rPr>
              <a:t>1</a:t>
            </a:r>
            <a:r>
              <a:rPr lang="zh-CN" altLang="en-US" sz="1600" dirty="0">
                <a:solidFill>
                  <a:schemeClr val="tx1"/>
                </a:solidFill>
              </a:rPr>
              <a:t>个，</a:t>
            </a:r>
            <a:r>
              <a:rPr lang="en-US" altLang="zh-CN" sz="1600" dirty="0" err="1">
                <a:solidFill>
                  <a:schemeClr val="tx1"/>
                </a:solidFill>
              </a:rPr>
              <a:t>trans_seq</a:t>
            </a:r>
            <a:r>
              <a:rPr lang="zh-CN" altLang="en-US" sz="1600" dirty="0">
                <a:solidFill>
                  <a:schemeClr val="tx1"/>
                </a:solidFill>
              </a:rPr>
              <a:t>字段过滤时，全量扫描</a:t>
            </a:r>
            <a:r>
              <a:rPr lang="en-US" altLang="zh-CN" sz="1600" dirty="0">
                <a:solidFill>
                  <a:schemeClr val="tx1"/>
                </a:solidFill>
              </a:rPr>
              <a:t>4</a:t>
            </a:r>
            <a:r>
              <a:rPr lang="zh-CN" altLang="en-US" sz="1600" dirty="0">
                <a:solidFill>
                  <a:schemeClr val="tx1"/>
                </a:solidFill>
              </a:rPr>
              <a:t>个</a:t>
            </a:r>
            <a:r>
              <a:rPr lang="en-US" altLang="zh-CN" sz="1600" dirty="0">
                <a:solidFill>
                  <a:schemeClr val="tx1"/>
                </a:solidFill>
              </a:rPr>
              <a:t> </a:t>
            </a:r>
            <a:r>
              <a:rPr lang="en-US" altLang="zh-CN" sz="1600" dirty="0" err="1">
                <a:solidFill>
                  <a:schemeClr val="tx1"/>
                </a:solidFill>
              </a:rPr>
              <a:t>mainifest</a:t>
            </a:r>
            <a:endParaRPr lang="en-US" sz="1600" dirty="0">
              <a:solidFill>
                <a:srgbClr val="FF0000"/>
              </a:solidFill>
            </a:endParaRPr>
          </a:p>
        </p:txBody>
      </p:sp>
      <p:sp>
        <p:nvSpPr>
          <p:cNvPr id="2" name="Google Shape;19;p3">
            <a:extLst>
              <a:ext uri="{FF2B5EF4-FFF2-40B4-BE49-F238E27FC236}">
                <a16:creationId xmlns:a16="http://schemas.microsoft.com/office/drawing/2014/main" id="{8D660790-599B-DB4C-1793-933D15C00054}"/>
              </a:ext>
            </a:extLst>
          </p:cNvPr>
          <p:cNvSpPr txBox="1">
            <a:spLocks/>
          </p:cNvSpPr>
          <p:nvPr/>
        </p:nvSpPr>
        <p:spPr>
          <a:xfrm>
            <a:off x="6708394" y="1301912"/>
            <a:ext cx="4435856" cy="499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zh-CN" altLang="en-US" sz="1600" dirty="0">
                <a:solidFill>
                  <a:schemeClr val="tx1"/>
                </a:solidFill>
              </a:rPr>
              <a:t>执行 </a:t>
            </a:r>
            <a:r>
              <a:rPr lang="en-US" sz="1600" dirty="0">
                <a:solidFill>
                  <a:schemeClr val="tx1"/>
                </a:solidFill>
              </a:rPr>
              <a:t>SELECT count(*) FROM </a:t>
            </a:r>
            <a:r>
              <a:rPr lang="en-US" sz="1600" dirty="0" err="1">
                <a:solidFill>
                  <a:schemeClr val="tx1"/>
                </a:solidFill>
              </a:rPr>
              <a:t>summit.attr_vals</a:t>
            </a:r>
            <a:r>
              <a:rPr lang="en-US" sz="1600" dirty="0">
                <a:solidFill>
                  <a:schemeClr val="tx1"/>
                </a:solidFill>
              </a:rPr>
              <a:t> </a:t>
            </a:r>
          </a:p>
          <a:p>
            <a:r>
              <a:rPr lang="en-US" sz="1600" dirty="0">
                <a:solidFill>
                  <a:schemeClr val="tx1"/>
                </a:solidFill>
              </a:rPr>
              <a:t>WHERE </a:t>
            </a:r>
            <a:r>
              <a:rPr lang="en-US" sz="1600" dirty="0" err="1">
                <a:solidFill>
                  <a:srgbClr val="FF0000"/>
                </a:solidFill>
              </a:rPr>
              <a:t>trans_seq</a:t>
            </a:r>
            <a:r>
              <a:rPr lang="en-US" sz="1600" dirty="0">
                <a:solidFill>
                  <a:srgbClr val="FF0000"/>
                </a:solidFill>
              </a:rPr>
              <a:t> =‘ttt111'</a:t>
            </a:r>
          </a:p>
        </p:txBody>
      </p:sp>
      <p:sp>
        <p:nvSpPr>
          <p:cNvPr id="11" name="Google Shape;19;p3">
            <a:extLst>
              <a:ext uri="{FF2B5EF4-FFF2-40B4-BE49-F238E27FC236}">
                <a16:creationId xmlns:a16="http://schemas.microsoft.com/office/drawing/2014/main" id="{B0A3BA0E-88F6-EC4F-D1CB-09D522E6BF23}"/>
              </a:ext>
            </a:extLst>
          </p:cNvPr>
          <p:cNvSpPr txBox="1">
            <a:spLocks/>
          </p:cNvSpPr>
          <p:nvPr/>
        </p:nvSpPr>
        <p:spPr>
          <a:xfrm>
            <a:off x="1010668" y="1301912"/>
            <a:ext cx="5173825" cy="499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zh-CN" altLang="en-US" sz="1600" dirty="0">
                <a:solidFill>
                  <a:schemeClr val="tx1"/>
                </a:solidFill>
              </a:rPr>
              <a:t>执行 </a:t>
            </a:r>
            <a:r>
              <a:rPr lang="en-US" sz="1600" dirty="0">
                <a:solidFill>
                  <a:schemeClr val="tx1"/>
                </a:solidFill>
              </a:rPr>
              <a:t>SELECT count(*) FROM </a:t>
            </a:r>
            <a:r>
              <a:rPr lang="en-US" sz="1600" dirty="0" err="1">
                <a:solidFill>
                  <a:schemeClr val="tx1"/>
                </a:solidFill>
              </a:rPr>
              <a:t>summit.attr_vals</a:t>
            </a:r>
            <a:r>
              <a:rPr lang="en-US" sz="1600" dirty="0">
                <a:solidFill>
                  <a:schemeClr val="tx1"/>
                </a:solidFill>
              </a:rPr>
              <a:t> </a:t>
            </a:r>
          </a:p>
          <a:p>
            <a:r>
              <a:rPr lang="en-US" sz="1600" dirty="0">
                <a:solidFill>
                  <a:schemeClr val="tx1"/>
                </a:solidFill>
              </a:rPr>
              <a:t>WHERE </a:t>
            </a:r>
            <a:r>
              <a:rPr lang="en-US" sz="1600" dirty="0" err="1">
                <a:solidFill>
                  <a:srgbClr val="FF0000"/>
                </a:solidFill>
              </a:rPr>
              <a:t>serial_num</a:t>
            </a:r>
            <a:r>
              <a:rPr lang="en-US" sz="1600" dirty="0">
                <a:solidFill>
                  <a:srgbClr val="FF0000"/>
                </a:solidFill>
              </a:rPr>
              <a:t> =‘aaa111'</a:t>
            </a:r>
          </a:p>
        </p:txBody>
      </p:sp>
      <p:pic>
        <p:nvPicPr>
          <p:cNvPr id="5" name="Picture 4">
            <a:extLst>
              <a:ext uri="{FF2B5EF4-FFF2-40B4-BE49-F238E27FC236}">
                <a16:creationId xmlns:a16="http://schemas.microsoft.com/office/drawing/2014/main" id="{E18729B7-C232-4C97-7564-8B70E6F2AE09}"/>
              </a:ext>
            </a:extLst>
          </p:cNvPr>
          <p:cNvPicPr>
            <a:picLocks noChangeAspect="1"/>
          </p:cNvPicPr>
          <p:nvPr/>
        </p:nvPicPr>
        <p:blipFill>
          <a:blip r:embed="rId2"/>
          <a:stretch>
            <a:fillRect/>
          </a:stretch>
        </p:blipFill>
        <p:spPr>
          <a:xfrm>
            <a:off x="1214945" y="1953812"/>
            <a:ext cx="2571750" cy="3857625"/>
          </a:xfrm>
          <a:prstGeom prst="rect">
            <a:avLst/>
          </a:prstGeom>
        </p:spPr>
      </p:pic>
      <p:pic>
        <p:nvPicPr>
          <p:cNvPr id="8" name="Picture 7">
            <a:extLst>
              <a:ext uri="{FF2B5EF4-FFF2-40B4-BE49-F238E27FC236}">
                <a16:creationId xmlns:a16="http://schemas.microsoft.com/office/drawing/2014/main" id="{F373D596-11F9-1F2C-8DCD-C6790A783856}"/>
              </a:ext>
            </a:extLst>
          </p:cNvPr>
          <p:cNvPicPr>
            <a:picLocks noChangeAspect="1"/>
          </p:cNvPicPr>
          <p:nvPr/>
        </p:nvPicPr>
        <p:blipFill>
          <a:blip r:embed="rId3"/>
          <a:stretch>
            <a:fillRect/>
          </a:stretch>
        </p:blipFill>
        <p:spPr>
          <a:xfrm>
            <a:off x="6956996" y="1937775"/>
            <a:ext cx="2590800" cy="3838575"/>
          </a:xfrm>
          <a:prstGeom prst="rect">
            <a:avLst/>
          </a:prstGeom>
        </p:spPr>
      </p:pic>
    </p:spTree>
    <p:extLst>
      <p:ext uri="{BB962C8B-B14F-4D97-AF65-F5344CB8AC3E}">
        <p14:creationId xmlns:p14="http://schemas.microsoft.com/office/powerpoint/2010/main" val="2768876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6E6A4-5000-5FC3-B7F6-66D1D921B5DF}"/>
            </a:ext>
          </a:extLst>
        </p:cNvPr>
        <p:cNvGrpSpPr/>
        <p:nvPr/>
      </p:nvGrpSpPr>
      <p:grpSpPr>
        <a:xfrm>
          <a:off x="0" y="0"/>
          <a:ext cx="0" cy="0"/>
          <a:chOff x="0" y="0"/>
          <a:chExt cx="0" cy="0"/>
        </a:xfrm>
      </p:grpSpPr>
      <p:sp>
        <p:nvSpPr>
          <p:cNvPr id="19" name="Google Shape;19;p3">
            <a:extLst>
              <a:ext uri="{FF2B5EF4-FFF2-40B4-BE49-F238E27FC236}">
                <a16:creationId xmlns:a16="http://schemas.microsoft.com/office/drawing/2014/main" id="{F4A52D86-0B92-48B2-4221-CABB5EFE064F}"/>
              </a:ext>
            </a:extLst>
          </p:cNvPr>
          <p:cNvSpPr txBox="1">
            <a:spLocks noGrp="1"/>
          </p:cNvSpPr>
          <p:nvPr>
            <p:ph type="title"/>
          </p:nvPr>
        </p:nvSpPr>
        <p:spPr>
          <a:xfrm>
            <a:off x="533250" y="467150"/>
            <a:ext cx="11190600" cy="499500"/>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r>
              <a:rPr lang="en-US" altLang="zh-CN" dirty="0"/>
              <a:t>Hidden Partition Write/Read Flow</a:t>
            </a:r>
            <a:endParaRPr lang="en-US" altLang="zh-CN" sz="2800" dirty="0"/>
          </a:p>
        </p:txBody>
      </p:sp>
      <p:sp>
        <p:nvSpPr>
          <p:cNvPr id="11" name="Google Shape;19;p3">
            <a:extLst>
              <a:ext uri="{FF2B5EF4-FFF2-40B4-BE49-F238E27FC236}">
                <a16:creationId xmlns:a16="http://schemas.microsoft.com/office/drawing/2014/main" id="{1BC401E0-8CFD-9083-B184-C313ACACE535}"/>
              </a:ext>
            </a:extLst>
          </p:cNvPr>
          <p:cNvSpPr txBox="1">
            <a:spLocks/>
          </p:cNvSpPr>
          <p:nvPr/>
        </p:nvSpPr>
        <p:spPr>
          <a:xfrm>
            <a:off x="622328" y="1152560"/>
            <a:ext cx="5173825" cy="499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zh-CN" altLang="en-US" sz="1600" dirty="0">
                <a:solidFill>
                  <a:schemeClr val="tx1"/>
                </a:solidFill>
              </a:rPr>
              <a:t>以</a:t>
            </a:r>
            <a:r>
              <a:rPr lang="en-US" sz="1600" dirty="0">
                <a:solidFill>
                  <a:schemeClr val="tx1"/>
                </a:solidFill>
              </a:rPr>
              <a:t>truncate(</a:t>
            </a:r>
            <a:r>
              <a:rPr lang="en-US" sz="1600" dirty="0" err="1">
                <a:solidFill>
                  <a:schemeClr val="tx1"/>
                </a:solidFill>
              </a:rPr>
              <a:t>serial_num</a:t>
            </a:r>
            <a:r>
              <a:rPr lang="en-US" sz="1600" dirty="0">
                <a:solidFill>
                  <a:schemeClr val="tx1"/>
                </a:solidFill>
              </a:rPr>
              <a:t>, 3)</a:t>
            </a:r>
            <a:r>
              <a:rPr lang="zh-CN" altLang="en-US" sz="1600" dirty="0">
                <a:solidFill>
                  <a:schemeClr val="tx1"/>
                </a:solidFill>
              </a:rPr>
              <a:t>分区为例</a:t>
            </a:r>
            <a:endParaRPr lang="en-US" sz="1600" dirty="0">
              <a:solidFill>
                <a:schemeClr val="tx1"/>
              </a:solidFill>
            </a:endParaRPr>
          </a:p>
        </p:txBody>
      </p:sp>
      <p:sp>
        <p:nvSpPr>
          <p:cNvPr id="3" name="Rectangle 2">
            <a:extLst>
              <a:ext uri="{FF2B5EF4-FFF2-40B4-BE49-F238E27FC236}">
                <a16:creationId xmlns:a16="http://schemas.microsoft.com/office/drawing/2014/main" id="{54964695-D84F-D656-A14F-0E8A9DEB30BE}"/>
              </a:ext>
            </a:extLst>
          </p:cNvPr>
          <p:cNvSpPr/>
          <p:nvPr/>
        </p:nvSpPr>
        <p:spPr>
          <a:xfrm>
            <a:off x="1925325" y="1976293"/>
            <a:ext cx="1005840" cy="499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Client</a:t>
            </a:r>
            <a:endParaRPr lang="en-US" dirty="0"/>
          </a:p>
        </p:txBody>
      </p:sp>
      <p:sp>
        <p:nvSpPr>
          <p:cNvPr id="5" name="Rectangle 4">
            <a:extLst>
              <a:ext uri="{FF2B5EF4-FFF2-40B4-BE49-F238E27FC236}">
                <a16:creationId xmlns:a16="http://schemas.microsoft.com/office/drawing/2014/main" id="{7B28C6EA-5AD0-345A-3E02-CDA43859F0A4}"/>
              </a:ext>
            </a:extLst>
          </p:cNvPr>
          <p:cNvSpPr/>
          <p:nvPr/>
        </p:nvSpPr>
        <p:spPr>
          <a:xfrm>
            <a:off x="1925325" y="3011104"/>
            <a:ext cx="1005840" cy="499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Iceberg</a:t>
            </a:r>
            <a:endParaRPr lang="en-US" dirty="0"/>
          </a:p>
        </p:txBody>
      </p:sp>
      <p:sp>
        <p:nvSpPr>
          <p:cNvPr id="6" name="Rectangle 5">
            <a:extLst>
              <a:ext uri="{FF2B5EF4-FFF2-40B4-BE49-F238E27FC236}">
                <a16:creationId xmlns:a16="http://schemas.microsoft.com/office/drawing/2014/main" id="{E99E89CC-B22A-5555-F776-BFF3A423F8E2}"/>
              </a:ext>
            </a:extLst>
          </p:cNvPr>
          <p:cNvSpPr/>
          <p:nvPr/>
        </p:nvSpPr>
        <p:spPr>
          <a:xfrm>
            <a:off x="1135893" y="4065549"/>
            <a:ext cx="1005840" cy="499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Data</a:t>
            </a:r>
            <a:endParaRPr lang="en-US" dirty="0"/>
          </a:p>
        </p:txBody>
      </p:sp>
      <p:sp>
        <p:nvSpPr>
          <p:cNvPr id="8" name="Rectangle 7">
            <a:extLst>
              <a:ext uri="{FF2B5EF4-FFF2-40B4-BE49-F238E27FC236}">
                <a16:creationId xmlns:a16="http://schemas.microsoft.com/office/drawing/2014/main" id="{26449B61-2BFE-BC8A-5565-623EBAD09866}"/>
              </a:ext>
            </a:extLst>
          </p:cNvPr>
          <p:cNvSpPr/>
          <p:nvPr/>
        </p:nvSpPr>
        <p:spPr>
          <a:xfrm>
            <a:off x="2720549" y="4065549"/>
            <a:ext cx="1005840" cy="499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metadata</a:t>
            </a:r>
            <a:endParaRPr lang="en-US" dirty="0"/>
          </a:p>
        </p:txBody>
      </p:sp>
      <p:sp>
        <p:nvSpPr>
          <p:cNvPr id="9" name="Rectangle 8">
            <a:extLst>
              <a:ext uri="{FF2B5EF4-FFF2-40B4-BE49-F238E27FC236}">
                <a16:creationId xmlns:a16="http://schemas.microsoft.com/office/drawing/2014/main" id="{51EC8852-888C-07C9-5C3F-5EDA192F3DFA}"/>
              </a:ext>
            </a:extLst>
          </p:cNvPr>
          <p:cNvSpPr/>
          <p:nvPr/>
        </p:nvSpPr>
        <p:spPr>
          <a:xfrm>
            <a:off x="1135893" y="5000709"/>
            <a:ext cx="1005840" cy="499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parquet</a:t>
            </a:r>
          </a:p>
        </p:txBody>
      </p:sp>
      <p:sp>
        <p:nvSpPr>
          <p:cNvPr id="12" name="Rectangle 11">
            <a:extLst>
              <a:ext uri="{FF2B5EF4-FFF2-40B4-BE49-F238E27FC236}">
                <a16:creationId xmlns:a16="http://schemas.microsoft.com/office/drawing/2014/main" id="{8BEDA33F-0F60-5125-24C7-F3075D2DE20C}"/>
              </a:ext>
            </a:extLst>
          </p:cNvPr>
          <p:cNvSpPr/>
          <p:nvPr/>
        </p:nvSpPr>
        <p:spPr>
          <a:xfrm>
            <a:off x="2720549" y="5000709"/>
            <a:ext cx="1005840" cy="499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Manifest</a:t>
            </a:r>
            <a:endParaRPr lang="en-US" dirty="0"/>
          </a:p>
        </p:txBody>
      </p:sp>
      <p:sp>
        <p:nvSpPr>
          <p:cNvPr id="14" name="TextBox 13">
            <a:extLst>
              <a:ext uri="{FF2B5EF4-FFF2-40B4-BE49-F238E27FC236}">
                <a16:creationId xmlns:a16="http://schemas.microsoft.com/office/drawing/2014/main" id="{A7E11DB1-57A4-DBB1-DEC3-81958746E98D}"/>
              </a:ext>
            </a:extLst>
          </p:cNvPr>
          <p:cNvSpPr txBox="1"/>
          <p:nvPr/>
        </p:nvSpPr>
        <p:spPr>
          <a:xfrm>
            <a:off x="599295" y="5998179"/>
            <a:ext cx="2172843" cy="523220"/>
          </a:xfrm>
          <a:prstGeom prst="rect">
            <a:avLst/>
          </a:prstGeom>
          <a:noFill/>
        </p:spPr>
        <p:txBody>
          <a:bodyPr wrap="square">
            <a:spAutoFit/>
          </a:bodyPr>
          <a:lstStyle/>
          <a:p>
            <a:r>
              <a:rPr lang="zh-CN" altLang="en-US" dirty="0"/>
              <a:t>增加</a:t>
            </a:r>
            <a:r>
              <a:rPr lang="en-US" altLang="zh-CN" dirty="0"/>
              <a:t>data</a:t>
            </a:r>
            <a:r>
              <a:rPr lang="zh-CN" altLang="en-US" dirty="0"/>
              <a:t>目录</a:t>
            </a:r>
            <a:r>
              <a:rPr lang="en-US" altLang="zh-CN" dirty="0" err="1"/>
              <a:t>serial_num_trunc</a:t>
            </a:r>
            <a:r>
              <a:rPr lang="en-US" altLang="zh-CN" dirty="0"/>
              <a:t>=‘</a:t>
            </a:r>
            <a:r>
              <a:rPr lang="en-US" altLang="zh-CN" dirty="0" err="1"/>
              <a:t>aaa</a:t>
            </a:r>
            <a:r>
              <a:rPr lang="en-US" altLang="zh-CN" dirty="0"/>
              <a:t>’</a:t>
            </a:r>
            <a:endParaRPr lang="en-US" dirty="0"/>
          </a:p>
        </p:txBody>
      </p:sp>
      <p:sp>
        <p:nvSpPr>
          <p:cNvPr id="15" name="TextBox 14">
            <a:extLst>
              <a:ext uri="{FF2B5EF4-FFF2-40B4-BE49-F238E27FC236}">
                <a16:creationId xmlns:a16="http://schemas.microsoft.com/office/drawing/2014/main" id="{4218FF5E-5635-06F1-33E7-3D82CB77AD25}"/>
              </a:ext>
            </a:extLst>
          </p:cNvPr>
          <p:cNvSpPr txBox="1"/>
          <p:nvPr/>
        </p:nvSpPr>
        <p:spPr>
          <a:xfrm>
            <a:off x="2740855" y="5979705"/>
            <a:ext cx="2172843" cy="523220"/>
          </a:xfrm>
          <a:prstGeom prst="rect">
            <a:avLst/>
          </a:prstGeom>
          <a:noFill/>
        </p:spPr>
        <p:txBody>
          <a:bodyPr wrap="square">
            <a:spAutoFit/>
          </a:bodyPr>
          <a:lstStyle/>
          <a:p>
            <a:r>
              <a:rPr lang="zh-CN" altLang="en-US" dirty="0"/>
              <a:t>写入分区信息</a:t>
            </a:r>
            <a:r>
              <a:rPr lang="en-US" altLang="zh-CN" dirty="0" err="1"/>
              <a:t>serial_num_trunc</a:t>
            </a:r>
            <a:r>
              <a:rPr lang="en-US" altLang="zh-CN" dirty="0"/>
              <a:t>=‘</a:t>
            </a:r>
            <a:r>
              <a:rPr lang="en-US" altLang="zh-CN" dirty="0" err="1"/>
              <a:t>aaa</a:t>
            </a:r>
            <a:r>
              <a:rPr lang="en-US" altLang="zh-CN" dirty="0"/>
              <a:t>’</a:t>
            </a:r>
            <a:endParaRPr lang="en-US" dirty="0"/>
          </a:p>
        </p:txBody>
      </p:sp>
      <p:sp>
        <p:nvSpPr>
          <p:cNvPr id="16" name="Arrow: Down 15">
            <a:extLst>
              <a:ext uri="{FF2B5EF4-FFF2-40B4-BE49-F238E27FC236}">
                <a16:creationId xmlns:a16="http://schemas.microsoft.com/office/drawing/2014/main" id="{E6F84E91-05F0-826D-44D6-0D23097BE900}"/>
              </a:ext>
            </a:extLst>
          </p:cNvPr>
          <p:cNvSpPr/>
          <p:nvPr/>
        </p:nvSpPr>
        <p:spPr>
          <a:xfrm>
            <a:off x="2277369" y="2555810"/>
            <a:ext cx="301752" cy="3555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Down 19">
            <a:extLst>
              <a:ext uri="{FF2B5EF4-FFF2-40B4-BE49-F238E27FC236}">
                <a16:creationId xmlns:a16="http://schemas.microsoft.com/office/drawing/2014/main" id="{9A488FC5-8CC1-2256-8051-7B0C51F912B0}"/>
              </a:ext>
            </a:extLst>
          </p:cNvPr>
          <p:cNvSpPr/>
          <p:nvPr/>
        </p:nvSpPr>
        <p:spPr>
          <a:xfrm>
            <a:off x="1487937" y="4615427"/>
            <a:ext cx="301752" cy="3555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B2D2A57C-B6F4-CB2A-C1C2-1880185D3C50}"/>
              </a:ext>
            </a:extLst>
          </p:cNvPr>
          <p:cNvSpPr/>
          <p:nvPr/>
        </p:nvSpPr>
        <p:spPr>
          <a:xfrm>
            <a:off x="3072593" y="4626711"/>
            <a:ext cx="301752" cy="3555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FE764FC4-7B6E-01AC-0602-197E178B0501}"/>
              </a:ext>
            </a:extLst>
          </p:cNvPr>
          <p:cNvSpPr/>
          <p:nvPr/>
        </p:nvSpPr>
        <p:spPr>
          <a:xfrm>
            <a:off x="1487937" y="5571432"/>
            <a:ext cx="301752" cy="3555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Down 22">
            <a:extLst>
              <a:ext uri="{FF2B5EF4-FFF2-40B4-BE49-F238E27FC236}">
                <a16:creationId xmlns:a16="http://schemas.microsoft.com/office/drawing/2014/main" id="{A54EC876-16F9-5061-CFBB-947EF1EB1876}"/>
              </a:ext>
            </a:extLst>
          </p:cNvPr>
          <p:cNvSpPr/>
          <p:nvPr/>
        </p:nvSpPr>
        <p:spPr>
          <a:xfrm>
            <a:off x="3072593" y="5562195"/>
            <a:ext cx="301752" cy="3555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ACBE9466-15FE-39D0-218D-EF0EAB12D9A4}"/>
              </a:ext>
            </a:extLst>
          </p:cNvPr>
          <p:cNvCxnSpPr>
            <a:cxnSpLocks/>
          </p:cNvCxnSpPr>
          <p:nvPr/>
        </p:nvCxnSpPr>
        <p:spPr>
          <a:xfrm flipH="1">
            <a:off x="1685716" y="3627123"/>
            <a:ext cx="678521" cy="3672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04F193F-4F93-7D90-06ED-9E37794F8F2B}"/>
              </a:ext>
            </a:extLst>
          </p:cNvPr>
          <p:cNvCxnSpPr/>
          <p:nvPr/>
        </p:nvCxnSpPr>
        <p:spPr>
          <a:xfrm>
            <a:off x="2579121" y="3635368"/>
            <a:ext cx="644348" cy="31089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BA09849C-9649-CBBB-0EF5-222365D02690}"/>
              </a:ext>
            </a:extLst>
          </p:cNvPr>
          <p:cNvSpPr/>
          <p:nvPr/>
        </p:nvSpPr>
        <p:spPr>
          <a:xfrm>
            <a:off x="7043519" y="1974675"/>
            <a:ext cx="1005840" cy="499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Client</a:t>
            </a:r>
            <a:endParaRPr lang="en-US" dirty="0"/>
          </a:p>
        </p:txBody>
      </p:sp>
      <p:sp>
        <p:nvSpPr>
          <p:cNvPr id="30" name="Rectangle 29">
            <a:extLst>
              <a:ext uri="{FF2B5EF4-FFF2-40B4-BE49-F238E27FC236}">
                <a16:creationId xmlns:a16="http://schemas.microsoft.com/office/drawing/2014/main" id="{4F5422AB-4156-D0CF-B6B9-2F0AF0DC5E56}"/>
              </a:ext>
            </a:extLst>
          </p:cNvPr>
          <p:cNvSpPr/>
          <p:nvPr/>
        </p:nvSpPr>
        <p:spPr>
          <a:xfrm>
            <a:off x="7041029" y="2981703"/>
            <a:ext cx="1005840" cy="499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Iceberg</a:t>
            </a:r>
            <a:endParaRPr lang="en-US" dirty="0"/>
          </a:p>
        </p:txBody>
      </p:sp>
      <p:sp>
        <p:nvSpPr>
          <p:cNvPr id="33" name="Rectangle 32">
            <a:extLst>
              <a:ext uri="{FF2B5EF4-FFF2-40B4-BE49-F238E27FC236}">
                <a16:creationId xmlns:a16="http://schemas.microsoft.com/office/drawing/2014/main" id="{75534964-F22E-0A6A-B1CA-F591CF30F4B2}"/>
              </a:ext>
            </a:extLst>
          </p:cNvPr>
          <p:cNvSpPr/>
          <p:nvPr/>
        </p:nvSpPr>
        <p:spPr>
          <a:xfrm>
            <a:off x="7116671" y="6021899"/>
            <a:ext cx="1005840" cy="499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parquet</a:t>
            </a:r>
          </a:p>
        </p:txBody>
      </p:sp>
      <p:sp>
        <p:nvSpPr>
          <p:cNvPr id="34" name="Rectangle 33">
            <a:extLst>
              <a:ext uri="{FF2B5EF4-FFF2-40B4-BE49-F238E27FC236}">
                <a16:creationId xmlns:a16="http://schemas.microsoft.com/office/drawing/2014/main" id="{CE5FD438-ABB1-B3D5-09D5-7F9A31AB66A3}"/>
              </a:ext>
            </a:extLst>
          </p:cNvPr>
          <p:cNvSpPr/>
          <p:nvPr/>
        </p:nvSpPr>
        <p:spPr>
          <a:xfrm>
            <a:off x="7116671" y="5006235"/>
            <a:ext cx="1005840" cy="499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Manifest</a:t>
            </a:r>
            <a:endParaRPr lang="en-US" dirty="0"/>
          </a:p>
        </p:txBody>
      </p:sp>
      <p:sp>
        <p:nvSpPr>
          <p:cNvPr id="35" name="TextBox 34">
            <a:extLst>
              <a:ext uri="{FF2B5EF4-FFF2-40B4-BE49-F238E27FC236}">
                <a16:creationId xmlns:a16="http://schemas.microsoft.com/office/drawing/2014/main" id="{C57283C8-4FC2-5C52-4F6E-129B7A90CA5F}"/>
              </a:ext>
            </a:extLst>
          </p:cNvPr>
          <p:cNvSpPr txBox="1"/>
          <p:nvPr/>
        </p:nvSpPr>
        <p:spPr>
          <a:xfrm>
            <a:off x="8341663" y="6048780"/>
            <a:ext cx="2172843" cy="523220"/>
          </a:xfrm>
          <a:prstGeom prst="rect">
            <a:avLst/>
          </a:prstGeom>
          <a:noFill/>
        </p:spPr>
        <p:txBody>
          <a:bodyPr wrap="square">
            <a:spAutoFit/>
          </a:bodyPr>
          <a:lstStyle/>
          <a:p>
            <a:r>
              <a:rPr lang="zh-CN" altLang="en-US" dirty="0"/>
              <a:t>读取</a:t>
            </a:r>
            <a:r>
              <a:rPr lang="en-US" altLang="zh-CN" dirty="0"/>
              <a:t>manifest</a:t>
            </a:r>
            <a:r>
              <a:rPr lang="zh-CN" altLang="en-US" dirty="0"/>
              <a:t>对应的</a:t>
            </a:r>
            <a:r>
              <a:rPr lang="en-US" altLang="zh-CN" dirty="0"/>
              <a:t>data</a:t>
            </a:r>
            <a:r>
              <a:rPr lang="zh-CN" altLang="en-US" dirty="0"/>
              <a:t>文件</a:t>
            </a:r>
            <a:endParaRPr lang="en-US" dirty="0"/>
          </a:p>
        </p:txBody>
      </p:sp>
      <p:sp>
        <p:nvSpPr>
          <p:cNvPr id="36" name="TextBox 35">
            <a:extLst>
              <a:ext uri="{FF2B5EF4-FFF2-40B4-BE49-F238E27FC236}">
                <a16:creationId xmlns:a16="http://schemas.microsoft.com/office/drawing/2014/main" id="{5CB369F6-F5AB-E510-0A39-FEDAB0C869EA}"/>
              </a:ext>
            </a:extLst>
          </p:cNvPr>
          <p:cNvSpPr txBox="1"/>
          <p:nvPr/>
        </p:nvSpPr>
        <p:spPr>
          <a:xfrm>
            <a:off x="8341663" y="4963664"/>
            <a:ext cx="2172843" cy="738664"/>
          </a:xfrm>
          <a:prstGeom prst="rect">
            <a:avLst/>
          </a:prstGeom>
          <a:noFill/>
        </p:spPr>
        <p:txBody>
          <a:bodyPr wrap="square">
            <a:spAutoFit/>
          </a:bodyPr>
          <a:lstStyle/>
          <a:p>
            <a:r>
              <a:rPr lang="zh-CN" altLang="en-US" dirty="0"/>
              <a:t>读取</a:t>
            </a:r>
            <a:r>
              <a:rPr lang="en-US" altLang="zh-CN" dirty="0"/>
              <a:t>manifest</a:t>
            </a:r>
            <a:r>
              <a:rPr lang="zh-CN" altLang="en-US" dirty="0"/>
              <a:t>找到包含</a:t>
            </a:r>
            <a:r>
              <a:rPr lang="en-US" altLang="zh-CN" dirty="0" err="1"/>
              <a:t>serial_num_trunc</a:t>
            </a:r>
            <a:r>
              <a:rPr lang="en-US" altLang="zh-CN" dirty="0"/>
              <a:t>=‘</a:t>
            </a:r>
            <a:r>
              <a:rPr lang="en-US" altLang="zh-CN" dirty="0" err="1"/>
              <a:t>aaa</a:t>
            </a:r>
            <a:r>
              <a:rPr lang="en-US" altLang="zh-CN" dirty="0"/>
              <a:t>’</a:t>
            </a:r>
            <a:r>
              <a:rPr lang="zh-CN" altLang="en-US" dirty="0"/>
              <a:t>的</a:t>
            </a:r>
            <a:r>
              <a:rPr lang="en-US" altLang="zh-CN" dirty="0"/>
              <a:t>data</a:t>
            </a:r>
            <a:r>
              <a:rPr lang="zh-CN" altLang="en-US" dirty="0"/>
              <a:t>文件</a:t>
            </a:r>
            <a:endParaRPr lang="en-US" dirty="0"/>
          </a:p>
        </p:txBody>
      </p:sp>
      <p:sp>
        <p:nvSpPr>
          <p:cNvPr id="37" name="Arrow: Down 36">
            <a:extLst>
              <a:ext uri="{FF2B5EF4-FFF2-40B4-BE49-F238E27FC236}">
                <a16:creationId xmlns:a16="http://schemas.microsoft.com/office/drawing/2014/main" id="{A80CF498-C208-E47D-2586-C01CAD821F6D}"/>
              </a:ext>
            </a:extLst>
          </p:cNvPr>
          <p:cNvSpPr/>
          <p:nvPr/>
        </p:nvSpPr>
        <p:spPr>
          <a:xfrm>
            <a:off x="7393073" y="2536263"/>
            <a:ext cx="301752" cy="3555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Down 37">
            <a:extLst>
              <a:ext uri="{FF2B5EF4-FFF2-40B4-BE49-F238E27FC236}">
                <a16:creationId xmlns:a16="http://schemas.microsoft.com/office/drawing/2014/main" id="{393D6ED2-A0EA-EF1F-ADF9-78E682CA701A}"/>
              </a:ext>
            </a:extLst>
          </p:cNvPr>
          <p:cNvSpPr/>
          <p:nvPr/>
        </p:nvSpPr>
        <p:spPr>
          <a:xfrm>
            <a:off x="7395563" y="5600133"/>
            <a:ext cx="301752" cy="3555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row: Down 38">
            <a:extLst>
              <a:ext uri="{FF2B5EF4-FFF2-40B4-BE49-F238E27FC236}">
                <a16:creationId xmlns:a16="http://schemas.microsoft.com/office/drawing/2014/main" id="{C30A6B57-63A6-755F-5A6D-F02A834D01CF}"/>
              </a:ext>
            </a:extLst>
          </p:cNvPr>
          <p:cNvSpPr/>
          <p:nvPr/>
        </p:nvSpPr>
        <p:spPr>
          <a:xfrm>
            <a:off x="7395563" y="3571120"/>
            <a:ext cx="301752" cy="3555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6DC1522-33A9-60C4-F61C-EBEE578B556D}"/>
              </a:ext>
            </a:extLst>
          </p:cNvPr>
          <p:cNvSpPr/>
          <p:nvPr/>
        </p:nvSpPr>
        <p:spPr>
          <a:xfrm>
            <a:off x="7116671" y="3999207"/>
            <a:ext cx="1005840" cy="499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t>Snapshot</a:t>
            </a:r>
            <a:endParaRPr lang="en-US" dirty="0"/>
          </a:p>
        </p:txBody>
      </p:sp>
      <p:sp>
        <p:nvSpPr>
          <p:cNvPr id="45" name="Arrow: Down 44">
            <a:extLst>
              <a:ext uri="{FF2B5EF4-FFF2-40B4-BE49-F238E27FC236}">
                <a16:creationId xmlns:a16="http://schemas.microsoft.com/office/drawing/2014/main" id="{0558A776-0A3F-BFB1-DB08-9F26D018485D}"/>
              </a:ext>
            </a:extLst>
          </p:cNvPr>
          <p:cNvSpPr/>
          <p:nvPr/>
        </p:nvSpPr>
        <p:spPr>
          <a:xfrm>
            <a:off x="7395563" y="4580842"/>
            <a:ext cx="301752" cy="3555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014F1708-F88A-9A7A-6074-94509DDF45A9}"/>
              </a:ext>
            </a:extLst>
          </p:cNvPr>
          <p:cNvSpPr txBox="1"/>
          <p:nvPr/>
        </p:nvSpPr>
        <p:spPr>
          <a:xfrm>
            <a:off x="8341662" y="4030571"/>
            <a:ext cx="2172843" cy="523220"/>
          </a:xfrm>
          <a:prstGeom prst="rect">
            <a:avLst/>
          </a:prstGeom>
          <a:noFill/>
        </p:spPr>
        <p:txBody>
          <a:bodyPr wrap="square">
            <a:spAutoFit/>
          </a:bodyPr>
          <a:lstStyle/>
          <a:p>
            <a:r>
              <a:rPr lang="zh-CN" altLang="en-US" dirty="0"/>
              <a:t>读取最新的</a:t>
            </a:r>
            <a:r>
              <a:rPr lang="en-US" altLang="zh-CN" dirty="0"/>
              <a:t>snapshot</a:t>
            </a:r>
            <a:r>
              <a:rPr lang="zh-CN" altLang="en-US" dirty="0"/>
              <a:t>，找到对应的</a:t>
            </a:r>
            <a:r>
              <a:rPr lang="en-US" altLang="zh-CN" dirty="0"/>
              <a:t>manifest</a:t>
            </a:r>
            <a:endParaRPr lang="en-US" dirty="0"/>
          </a:p>
        </p:txBody>
      </p:sp>
      <p:sp>
        <p:nvSpPr>
          <p:cNvPr id="47" name="Google Shape;19;p3">
            <a:extLst>
              <a:ext uri="{FF2B5EF4-FFF2-40B4-BE49-F238E27FC236}">
                <a16:creationId xmlns:a16="http://schemas.microsoft.com/office/drawing/2014/main" id="{32C7DE0D-3C4D-DBC1-4159-1DA746CFA80E}"/>
              </a:ext>
            </a:extLst>
          </p:cNvPr>
          <p:cNvSpPr txBox="1">
            <a:spLocks/>
          </p:cNvSpPr>
          <p:nvPr/>
        </p:nvSpPr>
        <p:spPr>
          <a:xfrm>
            <a:off x="5716523" y="2792645"/>
            <a:ext cx="1005840" cy="499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zh-CN" altLang="en-US" sz="3200" b="1" dirty="0">
                <a:solidFill>
                  <a:srgbClr val="FF0000"/>
                </a:solidFill>
              </a:rPr>
              <a:t>读</a:t>
            </a:r>
            <a:endParaRPr lang="en-US" sz="3200" b="1" dirty="0">
              <a:solidFill>
                <a:srgbClr val="FF0000"/>
              </a:solidFill>
            </a:endParaRPr>
          </a:p>
        </p:txBody>
      </p:sp>
      <p:sp>
        <p:nvSpPr>
          <p:cNvPr id="48" name="Google Shape;19;p3">
            <a:extLst>
              <a:ext uri="{FF2B5EF4-FFF2-40B4-BE49-F238E27FC236}">
                <a16:creationId xmlns:a16="http://schemas.microsoft.com/office/drawing/2014/main" id="{7BF3477A-43FB-97AB-75AC-9B443661760C}"/>
              </a:ext>
            </a:extLst>
          </p:cNvPr>
          <p:cNvSpPr txBox="1">
            <a:spLocks/>
          </p:cNvSpPr>
          <p:nvPr/>
        </p:nvSpPr>
        <p:spPr>
          <a:xfrm>
            <a:off x="751695" y="2668144"/>
            <a:ext cx="1005840" cy="499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400"/>
              <a:buFont typeface="Arial"/>
              <a:buNone/>
              <a:defRPr sz="28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zh-CN" altLang="en-US" sz="3200" b="1" dirty="0">
                <a:solidFill>
                  <a:srgbClr val="FF0000"/>
                </a:solidFill>
              </a:rPr>
              <a:t>写</a:t>
            </a:r>
            <a:endParaRPr lang="en-US" sz="3200" b="1" dirty="0">
              <a:solidFill>
                <a:srgbClr val="FF0000"/>
              </a:solidFill>
            </a:endParaRPr>
          </a:p>
        </p:txBody>
      </p:sp>
    </p:spTree>
    <p:extLst>
      <p:ext uri="{BB962C8B-B14F-4D97-AF65-F5344CB8AC3E}">
        <p14:creationId xmlns:p14="http://schemas.microsoft.com/office/powerpoint/2010/main" val="3563786973"/>
      </p:ext>
    </p:extLst>
  </p:cSld>
  <p:clrMapOvr>
    <a:masterClrMapping/>
  </p:clrMapOvr>
</p:sld>
</file>

<file path=ppt/theme/theme1.xml><?xml version="1.0" encoding="utf-8"?>
<a:theme xmlns:a="http://schemas.openxmlformats.org/drawingml/2006/main" name="1_Seagate_Template_2017">
  <a:themeElements>
    <a:clrScheme name="New Seagate Theme 2">
      <a:dk1>
        <a:srgbClr val="000000"/>
      </a:dk1>
      <a:lt1>
        <a:srgbClr val="FFFFFF"/>
      </a:lt1>
      <a:dk2>
        <a:srgbClr val="78777A"/>
      </a:dk2>
      <a:lt2>
        <a:srgbClr val="FFFFFF"/>
      </a:lt2>
      <a:accent1>
        <a:srgbClr val="6EBE49"/>
      </a:accent1>
      <a:accent2>
        <a:srgbClr val="868589"/>
      </a:accent2>
      <a:accent3>
        <a:srgbClr val="000000"/>
      </a:accent3>
      <a:accent4>
        <a:srgbClr val="F8BE15"/>
      </a:accent4>
      <a:accent5>
        <a:srgbClr val="00A1DD"/>
      </a:accent5>
      <a:accent6>
        <a:srgbClr val="008F98"/>
      </a:accent6>
      <a:hlink>
        <a:srgbClr val="6EBE4A"/>
      </a:hlink>
      <a:folHlink>
        <a:srgbClr val="8685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56e366eb-86f1-4645-85a7-f29555b26fee}" enabled="1" method="Standard" siteId="{d466216a-c643-434a-9c2e-057448c17cbe}" contentBits="2" removed="0"/>
</clbl:labelList>
</file>

<file path=docProps/app.xml><?xml version="1.0" encoding="utf-8"?>
<Properties xmlns="http://schemas.openxmlformats.org/officeDocument/2006/extended-properties" xmlns:vt="http://schemas.openxmlformats.org/officeDocument/2006/docPropsVTypes">
  <TotalTime>48076</TotalTime>
  <Words>935</Words>
  <Application>Microsoft Office PowerPoint</Application>
  <PresentationFormat>Custom</PresentationFormat>
  <Paragraphs>126</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Wingdings</vt:lpstr>
      <vt:lpstr>1_Seagate_Template_2017</vt:lpstr>
      <vt:lpstr>2026-02-05</vt:lpstr>
      <vt:lpstr>Catalog Support S3 and Hdfs</vt:lpstr>
      <vt:lpstr>Catalog Support S3 and Hdfs</vt:lpstr>
      <vt:lpstr>Catalog Support S3 and Hdfs</vt:lpstr>
      <vt:lpstr>Catalog Support S3 and Hdfs</vt:lpstr>
      <vt:lpstr>Catalog Support S3 and Hdfs</vt:lpstr>
      <vt:lpstr>Iceberg Hidden Partition</vt:lpstr>
      <vt:lpstr>Iceberg Hidden Partition – Test case</vt:lpstr>
      <vt:lpstr>Iceberg Hidden Partition – Test case</vt:lpstr>
      <vt:lpstr>Iceberg Hidden Partition – Test case</vt:lpstr>
      <vt:lpstr>Iceberg Hidden Partition – Test case</vt:lpstr>
      <vt:lpstr>Iceberg Hidden Partition – Test case</vt:lpstr>
      <vt:lpstr>Spark Sql Analyze</vt:lpstr>
      <vt:lpstr>Hidden Partition Write/Read Flow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ZhenYang Dong</cp:lastModifiedBy>
  <cp:revision>58</cp:revision>
  <dcterms:modified xsi:type="dcterms:W3CDTF">2026-02-06T03:39:51Z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1_Seagate_Template_2017:3</vt:lpwstr>
  </property>
  <property fmtid="{D5CDD505-2E9C-101B-9397-08002B2CF9AE}" pid="3" name="ClassificationContentMarkingFooterText">
    <vt:lpwstr>Seagate Internal</vt:lpwstr>
  </property>
</Properties>
</file>